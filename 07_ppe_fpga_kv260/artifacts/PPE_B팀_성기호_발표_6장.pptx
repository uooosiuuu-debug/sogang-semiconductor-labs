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8"/>
    <p:sldId id="257" r:id="rId9"/>
    <p:sldId id="258" r:id="rId10"/>
    <p:sldId id="259" r:id="rId11"/>
    <p:sldId id="260" r:id="rId12"/>
    <p:sldId id="26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F5C72-00B2-41A8-A7E5-4DA6AE61A6E1}" v="52" dt="2026-08-10T05:21:42.983"/>
    <p1510:client id="{2EBFB4AE-0A2A-4AFD-A9EE-A92268D3D85C}" v="160" dt="2026-08-10T09:13:08.991"/>
    <p1510:client id="{3C30B0C6-B0F6-4A42-B71F-E335E3B5566B}" v="344" dt="2026-08-11T08:12:35.620"/>
    <p1510:client id="{48623BE5-BD53-4F1D-B199-64C60FEBAFE2}" v="694" dt="2026-08-10T07:06:43.790"/>
    <p1510:client id="{96E12B9F-A9C6-4B13-A2A7-356CE5D6F995}" v="129" dt="2026-08-11T05:02:46.974"/>
    <p1510:client id="{976FAA9D-DDC6-4A8F-A621-6C3EFF4B4946}" v="2315" dt="2026-08-11T07:17:34.956"/>
    <p1510:client id="{DCDD2C3C-152D-4C58-A44F-0DD5FCE59530}" v="159" dt="2026-08-10T02:05:41.096"/>
    <p1510:client id="{FBE15653-5827-A265-86D4-2BF8D9AA2764}" v="155" dt="2026-08-11T09:11:31.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04E1288-EED4-444D-99D3-DD43526BC351}" type="datetimeFigureOut">
              <a:t>2026-08-11</a:t>
            </a:fld>
            <a:endParaRPr lang="ko-KR" altLang="en-US"/>
          </a:p>
        </p:txBody>
      </p:sp>
      <p:sp>
        <p:nvSpPr>
          <p:cNvPr id="4" name="슬라이드 이미지 개체 틀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E92029-F171-4FE6-AED7-3AF13C61E2E4}" type="slidenum">
              <a:t>‹#›</a:t>
            </a:fld>
            <a:endParaRPr lang="ko-KR" altLang="en-US"/>
          </a:p>
        </p:txBody>
      </p:sp>
    </p:spTree>
    <p:extLst>
      <p:ext uri="{BB962C8B-B14F-4D97-AF65-F5344CB8AC3E}">
        <p14:creationId xmlns:p14="http://schemas.microsoft.com/office/powerpoint/2010/main" val="41639862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저의 담당 범위는 조원들이 Vitis HLS로 구현한 연산 IP를 Vivado에서 하나의 시스템으로 통합하는 것이었습니다. 합성과 배치·배선, 타이밍 검증, 비트스트림 생성 후 KV260에 배포했습니다. 이후 CPU의 YOLO 앞뒤 구간과 FPGA model.6를 연결하여 실제 웹캠 PPE 탐지까지 확인했습니다. 개발 과정에서 Codex는 로그 해석, Tcl과 Python 명령 검토, 오류 원인 후보를 정리하는 보조 도구로 활용했습니다.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통합 과정에서는 개별 IP의 연산보다 시스템 문제가 더 어려웠습니다. cv2까지 FPGA에 넣었을 때 자원이 포화되어 배치가 실패했고, cv2를 CPU로 이전해 LUT를 91퍼센트에서 56퍼센트로 낮춰습니다. DMA의 기본 전송 길이가 특징맵보다 작았고, CHW와 HWC 배열을 다르게 해석해 값이 뒤섞이는 문제도 있었습니다. 반복 프레임에서는 BN 파라미터 순서를 수정했습니다. 각 문제를 로그와 경계 데이터로 좁혀 가며 해결했습니다.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KV260에서는 전체 YOLO를 FPGA에서 실행한 것이 아니라 CPU와 FPGA가 역할을 나눠 가졌습니다. CPU가 model.0부터 5까지 실행하고, 결과를 INT8로 양자화해 FPGA model.6에 전달합니다. FPGA 출력은 다시 실수 특징맵으로 복원하여 cv2와 model.7부터 22까지의 CPU 연산에 사용합니다. 입력은 128채널, 출력은 256채널이며 HWC 배열을 사용합니다. 이 경계 규약을 소프트웨어와 하드웨어에서 동일하게 맞추는 것이 중요했습니다.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최종적으로 KV260에 연결된 웹캠으로 사람, 안전모, 안전조끼 등의 PPE 탐지를 확인했습니다. 가장 단순한 y0와 y1 경계 특징은 204,800바이트가 정수 기준과 100퍼센트 일치했습니다. 전체 256채널 특징맵의 상관계수는 0.999였고, 순수 소프트웨어 검출 90건 중 88건을 재현해 97.8퍼센트의 검출 재현율을 보였습니다. 기본 PyTorch 기반 하이브리드 파이프라인은 프레임당 1.265초, 약 0.79 FPS였습니다. 속도는 목표보다 낮지만 FPGA 연산이 최종 탐지까지 정상 연결됨을 검증했습니다.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프로젝트의 가장 큰 성과는 단순히 비트스트림을 생성한 것이 아니라 FPGA model.6의 결과가 실제 YOLO PPE 탐지로 연결됨을 입증한 것입니다. 반면 model.6는 전체 실행 시간의 6.5퍼센트였기 때문에, 가속해도 전체 FPS 개선은 작았습니다. 향후에는 여러 C2f 블록을 FPGA에 연속적으로 배치하고, 중간 특징맵을 CPU와 매번 왕복시키지 않아야 합니다. 또한 비중이 큰 Detection Head와 CPU 구간을 ORT와 NCNN으로 최적화하는 방향이 필요합니다. 하드웨어 성능은 IP 하나의 속도가 아니라 전체 시스템 구조와 데이터 이동이 함께 결정한다는 것을 배웠습니다.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담당 역할 — FPGA 통합에서 KV260 실행까지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HLS IP를 하나의 시스템으로 묶고, 실제 PPE 탐지로 연결</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1508760" cy="96012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527048"/>
            <a:ext cx="1362456" cy="731520"/>
          </a:xfrm>
          <a:prstGeom prst="rect">
            <a:avLst/>
          </a:prstGeom>
          <a:noFill/>
        </p:spPr>
        <p:txBody>
          <a:bodyPr wrap="none" lIns="45720" rIns="45720" anchor="ctr">
            <a:spAutoFit/>
          </a:bodyPr>
          <a:lstStyle/>
          <a:p>
            <a:pPr algn="ctr"/>
            <a:r>
              <a:rPr sz="1500" b="1">
                <a:solidFill>
                  <a:srgbClr val="236CB4"/>
                </a:solidFill>
                <a:latin typeface="Noto Sans CJK KR"/>
              </a:rPr>
              <a:t>HLS IP
확인</a:t>
            </a:r>
          </a:p>
        </p:txBody>
      </p:sp>
      <p:sp>
        <p:nvSpPr>
          <p:cNvPr id="10" name="Right Arrow 9"/>
          <p:cNvSpPr/>
          <p:nvPr/>
        </p:nvSpPr>
        <p:spPr>
          <a:xfrm>
            <a:off x="2066543"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04872" y="1417320"/>
            <a:ext cx="1508760" cy="960120"/>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1527048"/>
            <a:ext cx="1362456" cy="731520"/>
          </a:xfrm>
          <a:prstGeom prst="rect">
            <a:avLst/>
          </a:prstGeom>
          <a:noFill/>
        </p:spPr>
        <p:txBody>
          <a:bodyPr wrap="none" lIns="45720" rIns="45720" anchor="ctr">
            <a:spAutoFit/>
          </a:bodyPr>
          <a:lstStyle/>
          <a:p>
            <a:pPr algn="ctr"/>
            <a:r>
              <a:rPr sz="1500" b="1">
                <a:solidFill>
                  <a:srgbClr val="21AABE"/>
                </a:solidFill>
                <a:latin typeface="Noto Sans CJK KR"/>
              </a:rPr>
              <a:t>Vivado
통합</a:t>
            </a:r>
          </a:p>
        </p:txBody>
      </p:sp>
      <p:sp>
        <p:nvSpPr>
          <p:cNvPr id="13" name="Right Arrow 12"/>
          <p:cNvSpPr/>
          <p:nvPr/>
        </p:nvSpPr>
        <p:spPr>
          <a:xfrm>
            <a:off x="3968496"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6824" y="1417320"/>
            <a:ext cx="1508760" cy="96012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27048"/>
            <a:ext cx="1362456" cy="731520"/>
          </a:xfrm>
          <a:prstGeom prst="rect">
            <a:avLst/>
          </a:prstGeom>
          <a:noFill/>
        </p:spPr>
        <p:txBody>
          <a:bodyPr wrap="none" lIns="45720" rIns="45720" anchor="ctr">
            <a:spAutoFit/>
          </a:bodyPr>
          <a:lstStyle/>
          <a:p>
            <a:pPr algn="ctr"/>
            <a:r>
              <a:rPr sz="1500" b="1">
                <a:solidFill>
                  <a:srgbClr val="329C69"/>
                </a:solidFill>
                <a:latin typeface="Noto Sans CJK KR"/>
              </a:rPr>
              <a:t>합성·배치
및 배선</a:t>
            </a:r>
          </a:p>
        </p:txBody>
      </p:sp>
      <p:sp>
        <p:nvSpPr>
          <p:cNvPr id="16" name="Right Arrow 15"/>
          <p:cNvSpPr/>
          <p:nvPr/>
        </p:nvSpPr>
        <p:spPr>
          <a:xfrm>
            <a:off x="5870448"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08776" y="1417320"/>
            <a:ext cx="1508760" cy="96012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527048"/>
            <a:ext cx="1362456" cy="731520"/>
          </a:xfrm>
          <a:prstGeom prst="rect">
            <a:avLst/>
          </a:prstGeom>
          <a:noFill/>
        </p:spPr>
        <p:txBody>
          <a:bodyPr wrap="none" lIns="45720" rIns="45720" anchor="ctr">
            <a:spAutoFit/>
          </a:bodyPr>
          <a:lstStyle/>
          <a:p>
            <a:pPr algn="ctr"/>
            <a:r>
              <a:rPr sz="1500" b="1">
                <a:solidFill>
                  <a:srgbClr val="EB8B36"/>
                </a:solidFill>
                <a:latin typeface="Noto Sans CJK KR"/>
              </a:rPr>
              <a:t>Bitstream
생성</a:t>
            </a:r>
          </a:p>
        </p:txBody>
      </p:sp>
      <p:sp>
        <p:nvSpPr>
          <p:cNvPr id="19" name="Right Arrow 18"/>
          <p:cNvSpPr/>
          <p:nvPr/>
        </p:nvSpPr>
        <p:spPr>
          <a:xfrm>
            <a:off x="7772400"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10728" y="1417320"/>
            <a:ext cx="1508760" cy="960120"/>
          </a:xfrm>
          <a:prstGeom prst="roundRect">
            <a:avLst/>
          </a:prstGeom>
          <a:solidFill>
            <a:srgbClr val="FFFFFF"/>
          </a:solidFill>
          <a:ln w="13970">
            <a:solidFill>
              <a:srgbClr val="CD4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1527048"/>
            <a:ext cx="1362456" cy="731520"/>
          </a:xfrm>
          <a:prstGeom prst="rect">
            <a:avLst/>
          </a:prstGeom>
          <a:noFill/>
        </p:spPr>
        <p:txBody>
          <a:bodyPr wrap="none" lIns="45720" rIns="45720" anchor="ctr">
            <a:spAutoFit/>
          </a:bodyPr>
          <a:lstStyle/>
          <a:p>
            <a:pPr algn="ctr"/>
            <a:r>
              <a:rPr sz="1500" b="1">
                <a:solidFill>
                  <a:srgbClr val="CD4949"/>
                </a:solidFill>
                <a:latin typeface="Noto Sans CJK KR"/>
              </a:rPr>
              <a:t>KV260
배포</a:t>
            </a:r>
          </a:p>
        </p:txBody>
      </p:sp>
      <p:sp>
        <p:nvSpPr>
          <p:cNvPr id="22" name="Right Arrow 21"/>
          <p:cNvSpPr/>
          <p:nvPr/>
        </p:nvSpPr>
        <p:spPr>
          <a:xfrm>
            <a:off x="9674352"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12680" y="1417320"/>
            <a:ext cx="1508760" cy="960120"/>
          </a:xfrm>
          <a:prstGeom prst="roundRect">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85832" y="1527048"/>
            <a:ext cx="1362456" cy="731520"/>
          </a:xfrm>
          <a:prstGeom prst="rect">
            <a:avLst/>
          </a:prstGeom>
          <a:noFill/>
        </p:spPr>
        <p:txBody>
          <a:bodyPr wrap="none" lIns="45720" rIns="45720" anchor="ctr">
            <a:spAutoFit/>
          </a:bodyPr>
          <a:lstStyle/>
          <a:p>
            <a:pPr algn="ctr"/>
            <a:r>
              <a:rPr sz="1500" b="1">
                <a:solidFill>
                  <a:srgbClr val="0E1F35"/>
                </a:solidFill>
                <a:latin typeface="Noto Sans CJK KR"/>
              </a:rPr>
              <a:t>웹캠 PPE
검증</a:t>
            </a:r>
          </a:p>
        </p:txBody>
      </p:sp>
      <p:sp>
        <p:nvSpPr>
          <p:cNvPr id="25" name="Rounded Rectangle 24"/>
          <p:cNvSpPr/>
          <p:nvPr/>
        </p:nvSpPr>
        <p:spPr>
          <a:xfrm>
            <a:off x="640080" y="2880360"/>
            <a:ext cx="5074920" cy="297180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3081528"/>
            <a:ext cx="470915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27" name="TextBox 26"/>
          <p:cNvSpPr txBox="1"/>
          <p:nvPr/>
        </p:nvSpPr>
        <p:spPr>
          <a:xfrm>
            <a:off x="868680" y="4039362"/>
            <a:ext cx="4617720" cy="411480"/>
          </a:xfrm>
          <a:prstGeom prst="rect">
            <a:avLst/>
          </a:prstGeom>
          <a:noFill/>
        </p:spPr>
        <p:txBody>
          <a:bodyPr wrap="none" lIns="45720" rIns="45720" anchor="ctr">
            <a:spAutoFit/>
          </a:bodyPr>
          <a:lstStyle/>
          <a:p>
            <a:pPr algn="ctr"/>
            <a:r>
              <a:rPr sz="1800" b="1">
                <a:solidFill>
                  <a:srgbClr val="0E1F35"/>
                </a:solidFill>
                <a:latin typeface="Noto Sans CJK KR"/>
              </a:rPr>
              <a:t>KV260 + USB 웹캠 연결 사진</a:t>
            </a:r>
          </a:p>
        </p:txBody>
      </p:sp>
      <p:sp>
        <p:nvSpPr>
          <p:cNvPr id="28" name="TextBox 27"/>
          <p:cNvSpPr txBox="1"/>
          <p:nvPr/>
        </p:nvSpPr>
        <p:spPr>
          <a:xfrm>
            <a:off x="960119" y="4693158"/>
            <a:ext cx="4434840" cy="742950"/>
          </a:xfrm>
          <a:prstGeom prst="rect">
            <a:avLst/>
          </a:prstGeom>
          <a:noFill/>
        </p:spPr>
        <p:txBody>
          <a:bodyPr wrap="none" lIns="45720" rIns="45720" anchor="ctr">
            <a:spAutoFit/>
          </a:bodyPr>
          <a:lstStyle/>
          <a:p>
            <a:pPr algn="ctr"/>
            <a:r>
              <a:rPr sz="1000" b="0">
                <a:solidFill>
                  <a:srgbClr val="66717C"/>
                </a:solidFill>
                <a:latin typeface="Noto Sans CJK KR"/>
              </a:rPr>
              <a:t>보드·전원·Ethernet·Logitech C270이
한 화면에 보이게 직접 촬영</a:t>
            </a:r>
          </a:p>
        </p:txBody>
      </p:sp>
      <p:sp>
        <p:nvSpPr>
          <p:cNvPr id="29" name="Rounded Rectangle 28"/>
          <p:cNvSpPr/>
          <p:nvPr/>
        </p:nvSpPr>
        <p:spPr>
          <a:xfrm>
            <a:off x="6126480" y="2880360"/>
            <a:ext cx="5394960" cy="2971800"/>
          </a:xfrm>
          <a:prstGeom prst="round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46520" y="3154680"/>
            <a:ext cx="4754880" cy="384048"/>
          </a:xfrm>
          <a:prstGeom prst="rect">
            <a:avLst/>
          </a:prstGeom>
          <a:noFill/>
        </p:spPr>
        <p:txBody>
          <a:bodyPr wrap="none" lIns="45720" rIns="45720" anchor="ctr">
            <a:spAutoFit/>
          </a:bodyPr>
          <a:lstStyle/>
          <a:p>
            <a:pPr algn="l"/>
            <a:r>
              <a:rPr sz="1900" b="1">
                <a:solidFill>
                  <a:srgbClr val="0E1F35"/>
                </a:solidFill>
                <a:latin typeface="Noto Sans CJK KR"/>
              </a:rPr>
              <a:t>나의 핵심 업무</a:t>
            </a:r>
          </a:p>
        </p:txBody>
      </p:sp>
      <p:sp>
        <p:nvSpPr>
          <p:cNvPr id="31" name="TextBox 30"/>
          <p:cNvSpPr txBox="1"/>
          <p:nvPr/>
        </p:nvSpPr>
        <p:spPr>
          <a:xfrm>
            <a:off x="6473952" y="3703320"/>
            <a:ext cx="4572000" cy="310896"/>
          </a:xfrm>
          <a:prstGeom prst="rect">
            <a:avLst/>
          </a:prstGeom>
          <a:noFill/>
        </p:spPr>
        <p:txBody>
          <a:bodyPr wrap="none" lIns="45720" rIns="45720" anchor="ctr">
            <a:spAutoFit/>
          </a:bodyPr>
          <a:lstStyle/>
          <a:p>
            <a:pPr algn="l"/>
            <a:r>
              <a:rPr sz="1200" b="0">
                <a:solidFill>
                  <a:srgbClr val="27303B"/>
                </a:solidFill>
                <a:latin typeface="Noto Sans CJK KR"/>
              </a:rPr>
              <a:t>• 각 HLS IP의 실제 포트와 인터페이스 확인</a:t>
            </a:r>
          </a:p>
        </p:txBody>
      </p:sp>
      <p:sp>
        <p:nvSpPr>
          <p:cNvPr id="32" name="TextBox 31"/>
          <p:cNvSpPr txBox="1"/>
          <p:nvPr/>
        </p:nvSpPr>
        <p:spPr>
          <a:xfrm>
            <a:off x="6473952" y="4096511"/>
            <a:ext cx="4572000" cy="310896"/>
          </a:xfrm>
          <a:prstGeom prst="rect">
            <a:avLst/>
          </a:prstGeom>
          <a:noFill/>
        </p:spPr>
        <p:txBody>
          <a:bodyPr wrap="none" lIns="45720" rIns="45720" anchor="ctr">
            <a:spAutoFit/>
          </a:bodyPr>
          <a:lstStyle/>
          <a:p>
            <a:pPr algn="l"/>
            <a:r>
              <a:rPr sz="1200" b="0">
                <a:solidFill>
                  <a:srgbClr val="27303B"/>
                </a:solidFill>
                <a:latin typeface="Noto Sans CJK KR"/>
              </a:rPr>
              <a:t>• PS·DMA·Clock·Reset·AXI-Stream 통합</a:t>
            </a:r>
          </a:p>
        </p:txBody>
      </p:sp>
      <p:sp>
        <p:nvSpPr>
          <p:cNvPr id="33" name="TextBox 32"/>
          <p:cNvSpPr txBox="1"/>
          <p:nvPr/>
        </p:nvSpPr>
        <p:spPr>
          <a:xfrm>
            <a:off x="6473952" y="4489704"/>
            <a:ext cx="4572000" cy="310896"/>
          </a:xfrm>
          <a:prstGeom prst="rect">
            <a:avLst/>
          </a:prstGeom>
          <a:noFill/>
        </p:spPr>
        <p:txBody>
          <a:bodyPr wrap="none" lIns="45720" rIns="45720" anchor="ctr">
            <a:spAutoFit/>
          </a:bodyPr>
          <a:lstStyle/>
          <a:p>
            <a:pPr algn="l"/>
            <a:r>
              <a:rPr sz="1200" b="0">
                <a:solidFill>
                  <a:srgbClr val="27303B"/>
                </a:solidFill>
                <a:latin typeface="Noto Sans CJK KR"/>
              </a:rPr>
              <a:t>• Vivado 로그 분석과 자원/타이밍 문제 해결</a:t>
            </a:r>
          </a:p>
        </p:txBody>
      </p:sp>
      <p:sp>
        <p:nvSpPr>
          <p:cNvPr id="34" name="TextBox 33"/>
          <p:cNvSpPr txBox="1"/>
          <p:nvPr/>
        </p:nvSpPr>
        <p:spPr>
          <a:xfrm>
            <a:off x="6473952" y="4882896"/>
            <a:ext cx="4572000" cy="310896"/>
          </a:xfrm>
          <a:prstGeom prst="rect">
            <a:avLst/>
          </a:prstGeom>
          <a:noFill/>
        </p:spPr>
        <p:txBody>
          <a:bodyPr wrap="none" lIns="45720" rIns="45720" anchor="ctr">
            <a:spAutoFit/>
          </a:bodyPr>
          <a:lstStyle/>
          <a:p>
            <a:pPr algn="l"/>
            <a:r>
              <a:rPr sz="1200" b="0">
                <a:solidFill>
                  <a:srgbClr val="27303B"/>
                </a:solidFill>
                <a:latin typeface="Noto Sans CJK KR"/>
              </a:rPr>
              <a:t>• KV260에서 SW–HW 하이브리드 추론 검증</a:t>
            </a:r>
          </a:p>
        </p:txBody>
      </p:sp>
      <p:sp>
        <p:nvSpPr>
          <p:cNvPr id="35" name="TextBox 34"/>
          <p:cNvSpPr txBox="1"/>
          <p:nvPr/>
        </p:nvSpPr>
        <p:spPr>
          <a:xfrm>
            <a:off x="6473952" y="5276088"/>
            <a:ext cx="4572000" cy="310896"/>
          </a:xfrm>
          <a:prstGeom prst="rect">
            <a:avLst/>
          </a:prstGeom>
          <a:noFill/>
        </p:spPr>
        <p:txBody>
          <a:bodyPr wrap="none" lIns="45720" rIns="45720" anchor="ctr">
            <a:spAutoFit/>
          </a:bodyPr>
          <a:lstStyle/>
          <a:p>
            <a:pPr algn="l"/>
            <a:r>
              <a:rPr sz="1200" b="0">
                <a:solidFill>
                  <a:srgbClr val="27303B"/>
                </a:solidFill>
                <a:latin typeface="Noto Sans CJK KR"/>
              </a:rPr>
              <a:t>• Codex로 명령·로그·문서를 교차 검토</a:t>
            </a:r>
          </a:p>
        </p:txBody>
      </p:sp>
      <p:sp>
        <p:nvSpPr>
          <p:cNvPr id="36" name="TextBox 35"/>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37" name="TextBox 36"/>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Vivado Block Design — CPU와 FPGA를 하나로 연결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PS는 YOLO 전·후단, PL은 model.6, DMA는 특징맵 전송을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097280"/>
            <a:ext cx="7498079" cy="507492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713231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0" name="TextBox 9"/>
          <p:cNvSpPr txBox="1"/>
          <p:nvPr/>
        </p:nvSpPr>
        <p:spPr>
          <a:xfrm>
            <a:off x="640080" y="3076498"/>
            <a:ext cx="7040879" cy="411480"/>
          </a:xfrm>
          <a:prstGeom prst="rect">
            <a:avLst/>
          </a:prstGeom>
          <a:noFill/>
        </p:spPr>
        <p:txBody>
          <a:bodyPr wrap="none" lIns="45720" rIns="45720" anchor="ctr">
            <a:spAutoFit/>
          </a:bodyPr>
          <a:lstStyle/>
          <a:p>
            <a:pPr algn="ctr"/>
            <a:r>
              <a:rPr sz="1800" b="1">
                <a:solidFill>
                  <a:srgbClr val="0E1F35"/>
                </a:solidFill>
                <a:latin typeface="Noto Sans CJK KR"/>
              </a:rPr>
              <a:t>Vivado 최종 Block Design 전체</a:t>
            </a:r>
          </a:p>
        </p:txBody>
      </p:sp>
      <p:sp>
        <p:nvSpPr>
          <p:cNvPr id="11" name="TextBox 10"/>
          <p:cNvSpPr txBox="1"/>
          <p:nvPr/>
        </p:nvSpPr>
        <p:spPr>
          <a:xfrm>
            <a:off x="731520" y="4192981"/>
            <a:ext cx="6857999" cy="1268730"/>
          </a:xfrm>
          <a:prstGeom prst="rect">
            <a:avLst/>
          </a:prstGeom>
          <a:noFill/>
        </p:spPr>
        <p:txBody>
          <a:bodyPr wrap="none" lIns="45720" rIns="45720" anchor="ctr">
            <a:spAutoFit/>
          </a:bodyPr>
          <a:lstStyle/>
          <a:p>
            <a:pPr algn="ctr"/>
            <a:r>
              <a:rPr sz="1000" b="0">
                <a:solidFill>
                  <a:srgbClr val="66717C"/>
                </a:solidFill>
                <a:latin typeface="Noto Sans CJK KR"/>
              </a:rPr>
              <a:t>PS·AXI DMA·model.6 IP·Clock/Reset이
모두 보이게 Zoom to Fit로 캡처</a:t>
            </a:r>
          </a:p>
        </p:txBody>
      </p:sp>
      <p:sp>
        <p:nvSpPr>
          <p:cNvPr id="12" name="Rounded Rectangle 11"/>
          <p:cNvSpPr/>
          <p:nvPr/>
        </p:nvSpPr>
        <p:spPr>
          <a:xfrm>
            <a:off x="8183879" y="1097280"/>
            <a:ext cx="3566160" cy="1097280"/>
          </a:xfrm>
          <a:prstGeom prst="roundRect">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234440"/>
            <a:ext cx="3200400" cy="292608"/>
          </a:xfrm>
          <a:prstGeom prst="rect">
            <a:avLst/>
          </a:prstGeom>
          <a:noFill/>
        </p:spPr>
        <p:txBody>
          <a:bodyPr wrap="none" lIns="45720" rIns="45720" anchor="ctr">
            <a:spAutoFit/>
          </a:bodyPr>
          <a:lstStyle/>
          <a:p>
            <a:pPr algn="l"/>
            <a:r>
              <a:rPr sz="1500" b="1">
                <a:solidFill>
                  <a:srgbClr val="236CB4"/>
                </a:solidFill>
                <a:latin typeface="Noto Sans CJK KR"/>
              </a:rPr>
              <a:t>PS (ARM CPU + DDR)</a:t>
            </a:r>
          </a:p>
        </p:txBody>
      </p:sp>
      <p:sp>
        <p:nvSpPr>
          <p:cNvPr id="14" name="TextBox 13"/>
          <p:cNvSpPr txBox="1"/>
          <p:nvPr/>
        </p:nvSpPr>
        <p:spPr>
          <a:xfrm>
            <a:off x="8366760" y="1609344"/>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model.0~5 / cv2+7~22 실행</a:t>
            </a:r>
          </a:p>
        </p:txBody>
      </p:sp>
      <p:sp>
        <p:nvSpPr>
          <p:cNvPr id="15" name="Rounded Rectangle 14"/>
          <p:cNvSpPr/>
          <p:nvPr/>
        </p:nvSpPr>
        <p:spPr>
          <a:xfrm>
            <a:off x="8183879" y="2395728"/>
            <a:ext cx="3566160" cy="1097280"/>
          </a:xfrm>
          <a:prstGeom prst="roundRect">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542032"/>
            <a:ext cx="3200400" cy="292608"/>
          </a:xfrm>
          <a:prstGeom prst="rect">
            <a:avLst/>
          </a:prstGeom>
          <a:noFill/>
        </p:spPr>
        <p:txBody>
          <a:bodyPr wrap="none" lIns="45720" rIns="45720" anchor="ctr">
            <a:spAutoFit/>
          </a:bodyPr>
          <a:lstStyle/>
          <a:p>
            <a:pPr algn="l"/>
            <a:r>
              <a:rPr sz="1500" b="1">
                <a:solidFill>
                  <a:srgbClr val="EB8B36"/>
                </a:solidFill>
                <a:latin typeface="Noto Sans CJK KR"/>
              </a:rPr>
              <a:t>AXI DMA</a:t>
            </a:r>
          </a:p>
        </p:txBody>
      </p:sp>
      <p:sp>
        <p:nvSpPr>
          <p:cNvPr id="17" name="TextBox 16"/>
          <p:cNvSpPr txBox="1"/>
          <p:nvPr/>
        </p:nvSpPr>
        <p:spPr>
          <a:xfrm>
            <a:off x="8366760" y="2907792"/>
            <a:ext cx="3154680" cy="347472"/>
          </a:xfrm>
          <a:prstGeom prst="rect">
            <a:avLst/>
          </a:prstGeom>
          <a:noFill/>
        </p:spPr>
        <p:txBody>
          <a:bodyPr wrap="none" lIns="45720" rIns="45720" anchor="ctr">
            <a:spAutoFit/>
          </a:bodyPr>
          <a:lstStyle/>
          <a:p>
            <a:pPr algn="l"/>
            <a:r>
              <a:rPr sz="1100" b="0">
                <a:solidFill>
                  <a:srgbClr val="27303B"/>
                </a:solidFill>
                <a:latin typeface="Noto Sans CJK KR"/>
              </a:rPr>
              <a:t>DDR ↔ FPGA 특징맵 전송</a:t>
            </a:r>
          </a:p>
        </p:txBody>
      </p:sp>
      <p:sp>
        <p:nvSpPr>
          <p:cNvPr id="18" name="Rounded Rectangle 17"/>
          <p:cNvSpPr/>
          <p:nvPr/>
        </p:nvSpPr>
        <p:spPr>
          <a:xfrm>
            <a:off x="8183879" y="3694176"/>
            <a:ext cx="3566160" cy="1097280"/>
          </a:xfrm>
          <a:prstGeom prst="roundRect">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840480"/>
            <a:ext cx="3200400" cy="292608"/>
          </a:xfrm>
          <a:prstGeom prst="rect">
            <a:avLst/>
          </a:prstGeom>
          <a:noFill/>
        </p:spPr>
        <p:txBody>
          <a:bodyPr wrap="none" lIns="45720" rIns="45720" anchor="ctr">
            <a:spAutoFit/>
          </a:bodyPr>
          <a:lstStyle/>
          <a:p>
            <a:pPr algn="l"/>
            <a:r>
              <a:rPr sz="1500" b="1">
                <a:solidFill>
                  <a:srgbClr val="329C69"/>
                </a:solidFill>
                <a:latin typeface="Noto Sans CJK KR"/>
              </a:rPr>
              <a:t>PL (FPGA Logic)</a:t>
            </a:r>
          </a:p>
        </p:txBody>
      </p:sp>
      <p:sp>
        <p:nvSpPr>
          <p:cNvPr id="20" name="TextBox 19"/>
          <p:cNvSpPr txBox="1"/>
          <p:nvPr/>
        </p:nvSpPr>
        <p:spPr>
          <a:xfrm>
            <a:off x="8366760" y="4206240"/>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model.6 cv1~Concat 실행</a:t>
            </a:r>
          </a:p>
        </p:txBody>
      </p:sp>
      <p:sp>
        <p:nvSpPr>
          <p:cNvPr id="21" name="Rounded Rectangle 20"/>
          <p:cNvSpPr/>
          <p:nvPr/>
        </p:nvSpPr>
        <p:spPr>
          <a:xfrm>
            <a:off x="8183879" y="5010912"/>
            <a:ext cx="3566160" cy="1161288"/>
          </a:xfrm>
          <a:prstGeom prst="round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39327" y="5193792"/>
            <a:ext cx="96012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5048" y="51937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AXI-Lite</a:t>
            </a:r>
          </a:p>
        </p:txBody>
      </p:sp>
      <p:sp>
        <p:nvSpPr>
          <p:cNvPr id="24" name="TextBox 23"/>
          <p:cNvSpPr txBox="1"/>
          <p:nvPr/>
        </p:nvSpPr>
        <p:spPr>
          <a:xfrm>
            <a:off x="9400032" y="5193792"/>
            <a:ext cx="2057400" cy="411480"/>
          </a:xfrm>
          <a:prstGeom prst="rect">
            <a:avLst/>
          </a:prstGeom>
          <a:noFill/>
        </p:spPr>
        <p:txBody>
          <a:bodyPr wrap="none" lIns="45720" rIns="45720" anchor="ctr">
            <a:spAutoFit/>
          </a:bodyPr>
          <a:lstStyle/>
          <a:p>
            <a:pPr algn="l"/>
            <a:r>
              <a:rPr sz="1000" b="0">
                <a:solidFill>
                  <a:srgbClr val="27303B"/>
                </a:solidFill>
                <a:latin typeface="Noto Sans CJK KR"/>
              </a:rPr>
              <a:t>제어·스케일</a:t>
            </a:r>
          </a:p>
        </p:txBody>
      </p:sp>
      <p:sp>
        <p:nvSpPr>
          <p:cNvPr id="25" name="Rounded Rectangle 24"/>
          <p:cNvSpPr/>
          <p:nvPr/>
        </p:nvSpPr>
        <p:spPr>
          <a:xfrm>
            <a:off x="8339327" y="5650992"/>
            <a:ext cx="9601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85048" y="56509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Stream</a:t>
            </a:r>
          </a:p>
        </p:txBody>
      </p:sp>
      <p:sp>
        <p:nvSpPr>
          <p:cNvPr id="27" name="TextBox 26"/>
          <p:cNvSpPr txBox="1"/>
          <p:nvPr/>
        </p:nvSpPr>
        <p:spPr>
          <a:xfrm>
            <a:off x="9400032" y="5650992"/>
            <a:ext cx="2057400" cy="411480"/>
          </a:xfrm>
          <a:prstGeom prst="rect">
            <a:avLst/>
          </a:prstGeom>
          <a:noFill/>
        </p:spPr>
        <p:txBody>
          <a:bodyPr wrap="none" lIns="45720" rIns="45720" anchor="ctr">
            <a:spAutoFit/>
          </a:bodyPr>
          <a:lstStyle/>
          <a:p>
            <a:pPr algn="l"/>
            <a:r>
              <a:rPr sz="1000" b="0">
                <a:solidFill>
                  <a:srgbClr val="27303B"/>
                </a:solidFill>
                <a:latin typeface="Noto Sans CJK KR"/>
              </a:rPr>
              <a:t>IP 간 연속 데이터</a:t>
            </a:r>
          </a:p>
        </p:txBody>
      </p:sp>
      <p:sp>
        <p:nvSpPr>
          <p:cNvPr id="28" name="TextBox 2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9" name="TextBox 2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구현 과정의 핵심 문제와 해결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로그와 경계 데이터를 기준으로 원인을 하나씩 제거</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143000"/>
            <a:ext cx="2971800" cy="411480"/>
          </a:xfrm>
          <a:prstGeom prst="roundRect">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143000"/>
            <a:ext cx="2880360" cy="411480"/>
          </a:xfrm>
          <a:prstGeom prst="rect">
            <a:avLst/>
          </a:prstGeom>
          <a:noFill/>
        </p:spPr>
        <p:txBody>
          <a:bodyPr wrap="none" lIns="45720" rIns="45720" anchor="ctr">
            <a:spAutoFit/>
          </a:bodyPr>
          <a:lstStyle/>
          <a:p>
            <a:pPr algn="ctr"/>
            <a:r>
              <a:rPr sz="1100" b="1">
                <a:solidFill>
                  <a:srgbClr val="FFFFFF"/>
                </a:solidFill>
                <a:latin typeface="Noto Sans CJK KR"/>
              </a:rPr>
              <a:t>문제</a:t>
            </a:r>
          </a:p>
        </p:txBody>
      </p:sp>
      <p:sp>
        <p:nvSpPr>
          <p:cNvPr id="10" name="Rounded Rectangle 9"/>
          <p:cNvSpPr/>
          <p:nvPr/>
        </p:nvSpPr>
        <p:spPr>
          <a:xfrm>
            <a:off x="3794760" y="1143000"/>
            <a:ext cx="34290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1143000"/>
            <a:ext cx="3337560" cy="411480"/>
          </a:xfrm>
          <a:prstGeom prst="rect">
            <a:avLst/>
          </a:prstGeom>
          <a:noFill/>
        </p:spPr>
        <p:txBody>
          <a:bodyPr wrap="none" lIns="45720" rIns="45720" anchor="ctr">
            <a:spAutoFit/>
          </a:bodyPr>
          <a:lstStyle/>
          <a:p>
            <a:pPr algn="ctr"/>
            <a:r>
              <a:rPr sz="1100" b="1">
                <a:solidFill>
                  <a:srgbClr val="FFFFFF"/>
                </a:solidFill>
                <a:latin typeface="Noto Sans CJK KR"/>
              </a:rPr>
              <a:t>직접 원인</a:t>
            </a:r>
          </a:p>
        </p:txBody>
      </p:sp>
      <p:sp>
        <p:nvSpPr>
          <p:cNvPr id="12" name="Rounded Rectangle 11"/>
          <p:cNvSpPr/>
          <p:nvPr/>
        </p:nvSpPr>
        <p:spPr>
          <a:xfrm>
            <a:off x="7543800" y="1143000"/>
            <a:ext cx="41605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143000"/>
            <a:ext cx="4069080" cy="411480"/>
          </a:xfrm>
          <a:prstGeom prst="rect">
            <a:avLst/>
          </a:prstGeom>
          <a:noFill/>
        </p:spPr>
        <p:txBody>
          <a:bodyPr wrap="none" lIns="45720" rIns="45720" anchor="ctr">
            <a:spAutoFit/>
          </a:bodyPr>
          <a:lstStyle/>
          <a:p>
            <a:pPr algn="ctr"/>
            <a:r>
              <a:rPr sz="1100" b="1">
                <a:solidFill>
                  <a:srgbClr val="FFFFFF"/>
                </a:solidFill>
                <a:latin typeface="Noto Sans CJK KR"/>
              </a:rPr>
              <a:t>해결</a:t>
            </a:r>
          </a:p>
        </p:txBody>
      </p:sp>
      <p:sp>
        <p:nvSpPr>
          <p:cNvPr id="14" name="Rectangle 13"/>
          <p:cNvSpPr/>
          <p:nvPr/>
        </p:nvSpPr>
        <p:spPr>
          <a:xfrm>
            <a:off x="502920" y="1719072"/>
            <a:ext cx="29718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 y="1792224"/>
            <a:ext cx="2679192" cy="786384"/>
          </a:xfrm>
          <a:prstGeom prst="rect">
            <a:avLst/>
          </a:prstGeom>
          <a:noFill/>
        </p:spPr>
        <p:txBody>
          <a:bodyPr wrap="none" lIns="45720" rIns="45720" anchor="ctr">
            <a:spAutoFit/>
          </a:bodyPr>
          <a:lstStyle/>
          <a:p>
            <a:pPr algn="ctr"/>
            <a:r>
              <a:rPr sz="1200" b="1">
                <a:solidFill>
                  <a:srgbClr val="27303B"/>
                </a:solidFill>
                <a:latin typeface="Noto Sans CJK KR"/>
              </a:rPr>
              <a:t>Vivado 배치 실패</a:t>
            </a:r>
          </a:p>
        </p:txBody>
      </p:sp>
      <p:sp>
        <p:nvSpPr>
          <p:cNvPr id="16" name="Rectangle 15"/>
          <p:cNvSpPr/>
          <p:nvPr/>
        </p:nvSpPr>
        <p:spPr>
          <a:xfrm>
            <a:off x="3794760" y="1719072"/>
            <a:ext cx="34290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41064" y="1792224"/>
            <a:ext cx="3136392" cy="786384"/>
          </a:xfrm>
          <a:prstGeom prst="rect">
            <a:avLst/>
          </a:prstGeom>
          <a:noFill/>
        </p:spPr>
        <p:txBody>
          <a:bodyPr wrap="none" lIns="45720" rIns="45720" anchor="ctr">
            <a:spAutoFit/>
          </a:bodyPr>
          <a:lstStyle/>
          <a:p>
            <a:pPr algn="ctr"/>
            <a:r>
              <a:rPr sz="1200" b="0">
                <a:solidFill>
                  <a:srgbClr val="27303B"/>
                </a:solidFill>
                <a:latin typeface="Noto Sans CJK KR"/>
              </a:rPr>
              <a:t>cv2 포함 시 LUT 91%
Control Set 파편화</a:t>
            </a:r>
          </a:p>
        </p:txBody>
      </p:sp>
      <p:sp>
        <p:nvSpPr>
          <p:cNvPr id="18" name="Rectangle 17"/>
          <p:cNvSpPr/>
          <p:nvPr/>
        </p:nvSpPr>
        <p:spPr>
          <a:xfrm>
            <a:off x="7543800" y="1719072"/>
            <a:ext cx="416052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90104" y="1792224"/>
            <a:ext cx="3867911" cy="786384"/>
          </a:xfrm>
          <a:prstGeom prst="rect">
            <a:avLst/>
          </a:prstGeom>
          <a:noFill/>
        </p:spPr>
        <p:txBody>
          <a:bodyPr wrap="none" lIns="45720" rIns="45720" anchor="ctr">
            <a:spAutoFit/>
          </a:bodyPr>
          <a:lstStyle/>
          <a:p>
            <a:pPr algn="ctr"/>
            <a:r>
              <a:rPr sz="1200" b="0">
                <a:solidFill>
                  <a:srgbClr val="27303B"/>
                </a:solidFill>
                <a:latin typeface="Noto Sans CJK KR"/>
              </a:rPr>
              <a:t>cv2를 CPU로 이전
LUT 91% → 56%</a:t>
            </a:r>
          </a:p>
        </p:txBody>
      </p:sp>
      <p:sp>
        <p:nvSpPr>
          <p:cNvPr id="20" name="Rectangle 19"/>
          <p:cNvSpPr/>
          <p:nvPr/>
        </p:nvSpPr>
        <p:spPr>
          <a:xfrm>
            <a:off x="502920" y="2752344"/>
            <a:ext cx="29718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 y="2825496"/>
            <a:ext cx="2679192" cy="786384"/>
          </a:xfrm>
          <a:prstGeom prst="rect">
            <a:avLst/>
          </a:prstGeom>
          <a:noFill/>
        </p:spPr>
        <p:txBody>
          <a:bodyPr wrap="none" lIns="45720" rIns="45720" anchor="ctr">
            <a:spAutoFit/>
          </a:bodyPr>
          <a:lstStyle/>
          <a:p>
            <a:pPr algn="ctr"/>
            <a:r>
              <a:rPr sz="1200" b="0">
                <a:solidFill>
                  <a:srgbClr val="27303B"/>
                </a:solidFill>
                <a:latin typeface="Noto Sans CJK KR"/>
              </a:rPr>
              <a:t>DMA 출력 전송 실패</a:t>
            </a:r>
          </a:p>
        </p:txBody>
      </p:sp>
      <p:sp>
        <p:nvSpPr>
          <p:cNvPr id="22" name="Rectangle 21"/>
          <p:cNvSpPr/>
          <p:nvPr/>
        </p:nvSpPr>
        <p:spPr>
          <a:xfrm>
            <a:off x="3794760" y="2752344"/>
            <a:ext cx="34290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41064" y="2825496"/>
            <a:ext cx="3136392" cy="786384"/>
          </a:xfrm>
          <a:prstGeom prst="rect">
            <a:avLst/>
          </a:prstGeom>
          <a:noFill/>
        </p:spPr>
        <p:txBody>
          <a:bodyPr wrap="none" lIns="45720" rIns="45720" anchor="ctr">
            <a:spAutoFit/>
          </a:bodyPr>
          <a:lstStyle/>
          <a:p>
            <a:pPr algn="ctr"/>
            <a:r>
              <a:rPr sz="1200" b="0">
                <a:solidFill>
                  <a:srgbClr val="27303B"/>
                </a:solidFill>
                <a:latin typeface="Noto Sans CJK KR"/>
              </a:rPr>
              <a:t>409,600B보다 작은
기본 전송 길이</a:t>
            </a:r>
          </a:p>
        </p:txBody>
      </p:sp>
      <p:sp>
        <p:nvSpPr>
          <p:cNvPr id="24" name="Rectangle 23"/>
          <p:cNvSpPr/>
          <p:nvPr/>
        </p:nvSpPr>
        <p:spPr>
          <a:xfrm>
            <a:off x="7543800" y="2752344"/>
            <a:ext cx="416052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90104" y="2825496"/>
            <a:ext cx="3867911" cy="786384"/>
          </a:xfrm>
          <a:prstGeom prst="rect">
            <a:avLst/>
          </a:prstGeom>
          <a:noFill/>
        </p:spPr>
        <p:txBody>
          <a:bodyPr wrap="none" lIns="45720" rIns="45720" anchor="ctr">
            <a:spAutoFit/>
          </a:bodyPr>
          <a:lstStyle/>
          <a:p>
            <a:pPr algn="ctr"/>
            <a:r>
              <a:rPr sz="1200" b="0">
                <a:solidFill>
                  <a:srgbClr val="27303B"/>
                </a:solidFill>
                <a:latin typeface="Noto Sans CJK KR"/>
              </a:rPr>
              <a:t>DMA length width
14 → 26bit</a:t>
            </a:r>
          </a:p>
        </p:txBody>
      </p:sp>
      <p:sp>
        <p:nvSpPr>
          <p:cNvPr id="26" name="Rectangle 25"/>
          <p:cNvSpPr/>
          <p:nvPr/>
        </p:nvSpPr>
        <p:spPr>
          <a:xfrm>
            <a:off x="502920" y="3785615"/>
            <a:ext cx="29718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9224" y="3858768"/>
            <a:ext cx="2679192" cy="786384"/>
          </a:xfrm>
          <a:prstGeom prst="rect">
            <a:avLst/>
          </a:prstGeom>
          <a:noFill/>
        </p:spPr>
        <p:txBody>
          <a:bodyPr wrap="none" lIns="45720" rIns="45720" anchor="ctr">
            <a:spAutoFit/>
          </a:bodyPr>
          <a:lstStyle/>
          <a:p>
            <a:pPr algn="ctr"/>
            <a:r>
              <a:rPr sz="1200" b="0">
                <a:solidFill>
                  <a:srgbClr val="27303B"/>
                </a:solidFill>
                <a:latin typeface="Noto Sans CJK KR"/>
              </a:rPr>
              <a:t>탐지 결과 붕괴</a:t>
            </a:r>
          </a:p>
        </p:txBody>
      </p:sp>
      <p:sp>
        <p:nvSpPr>
          <p:cNvPr id="28" name="Rectangle 27"/>
          <p:cNvSpPr/>
          <p:nvPr/>
        </p:nvSpPr>
        <p:spPr>
          <a:xfrm>
            <a:off x="3794760" y="3785615"/>
            <a:ext cx="342900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941064" y="3858768"/>
            <a:ext cx="3136392" cy="786384"/>
          </a:xfrm>
          <a:prstGeom prst="rect">
            <a:avLst/>
          </a:prstGeom>
          <a:noFill/>
        </p:spPr>
        <p:txBody>
          <a:bodyPr wrap="none" lIns="45720" rIns="45720" anchor="ctr">
            <a:spAutoFit/>
          </a:bodyPr>
          <a:lstStyle/>
          <a:p>
            <a:pPr algn="ctr"/>
            <a:r>
              <a:rPr sz="1200" b="0">
                <a:solidFill>
                  <a:srgbClr val="27303B"/>
                </a:solidFill>
                <a:latin typeface="Noto Sans CJK KR"/>
              </a:rPr>
              <a:t>CHW/HWC 특징맵
배열 해석 불일치</a:t>
            </a:r>
          </a:p>
        </p:txBody>
      </p:sp>
      <p:sp>
        <p:nvSpPr>
          <p:cNvPr id="30" name="Rectangle 29"/>
          <p:cNvSpPr/>
          <p:nvPr/>
        </p:nvSpPr>
        <p:spPr>
          <a:xfrm>
            <a:off x="7543800" y="3785615"/>
            <a:ext cx="4160520" cy="93268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90104" y="3858768"/>
            <a:ext cx="3867911" cy="786384"/>
          </a:xfrm>
          <a:prstGeom prst="rect">
            <a:avLst/>
          </a:prstGeom>
          <a:noFill/>
        </p:spPr>
        <p:txBody>
          <a:bodyPr wrap="none" lIns="45720" rIns="45720" anchor="ctr">
            <a:spAutoFit/>
          </a:bodyPr>
          <a:lstStyle/>
          <a:p>
            <a:pPr algn="ctr"/>
            <a:r>
              <a:rPr sz="1200" b="0">
                <a:solidFill>
                  <a:srgbClr val="27303B"/>
                </a:solidFill>
                <a:latin typeface="Noto Sans CJK KR"/>
              </a:rPr>
              <a:t>FPGA 경계를
HWC로 통일</a:t>
            </a:r>
          </a:p>
        </p:txBody>
      </p:sp>
      <p:sp>
        <p:nvSpPr>
          <p:cNvPr id="32" name="Rectangle 31"/>
          <p:cNvSpPr/>
          <p:nvPr/>
        </p:nvSpPr>
        <p:spPr>
          <a:xfrm>
            <a:off x="502920" y="4818888"/>
            <a:ext cx="29718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9224" y="4892040"/>
            <a:ext cx="2679192" cy="786384"/>
          </a:xfrm>
          <a:prstGeom prst="rect">
            <a:avLst/>
          </a:prstGeom>
          <a:noFill/>
        </p:spPr>
        <p:txBody>
          <a:bodyPr wrap="none" lIns="45720" rIns="45720" anchor="ctr">
            <a:spAutoFit/>
          </a:bodyPr>
          <a:lstStyle/>
          <a:p>
            <a:pPr algn="ctr"/>
            <a:r>
              <a:rPr sz="1200" b="0">
                <a:solidFill>
                  <a:srgbClr val="27303B"/>
                </a:solidFill>
                <a:latin typeface="Noto Sans CJK KR"/>
              </a:rPr>
              <a:t>반복 프레임 오류</a:t>
            </a:r>
          </a:p>
        </p:txBody>
      </p:sp>
      <p:sp>
        <p:nvSpPr>
          <p:cNvPr id="34" name="Rectangle 33"/>
          <p:cNvSpPr/>
          <p:nvPr/>
        </p:nvSpPr>
        <p:spPr>
          <a:xfrm>
            <a:off x="3794760" y="4818888"/>
            <a:ext cx="342900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41064" y="4892040"/>
            <a:ext cx="3136392" cy="786384"/>
          </a:xfrm>
          <a:prstGeom prst="rect">
            <a:avLst/>
          </a:prstGeom>
          <a:noFill/>
        </p:spPr>
        <p:txBody>
          <a:bodyPr wrap="none" lIns="45720" rIns="45720" anchor="ctr">
            <a:spAutoFit/>
          </a:bodyPr>
          <a:lstStyle/>
          <a:p>
            <a:pPr algn="ctr"/>
            <a:r>
              <a:rPr sz="1200" b="0">
                <a:solidFill>
                  <a:srgbClr val="27303B"/>
                </a:solidFill>
                <a:latin typeface="Noto Sans CJK KR"/>
              </a:rPr>
              <a:t>BN 파라미터 슬롯과
내부 호출 순서 불일치</a:t>
            </a:r>
          </a:p>
        </p:txBody>
      </p:sp>
      <p:sp>
        <p:nvSpPr>
          <p:cNvPr id="36" name="Rectangle 35"/>
          <p:cNvSpPr/>
          <p:nvPr/>
        </p:nvSpPr>
        <p:spPr>
          <a:xfrm>
            <a:off x="7543800" y="4818888"/>
            <a:ext cx="4160520" cy="93268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90104" y="4892040"/>
            <a:ext cx="3867911" cy="786384"/>
          </a:xfrm>
          <a:prstGeom prst="rect">
            <a:avLst/>
          </a:prstGeom>
          <a:noFill/>
        </p:spPr>
        <p:txBody>
          <a:bodyPr wrap="none" lIns="45720" rIns="45720" anchor="ctr">
            <a:spAutoFit/>
          </a:bodyPr>
          <a:lstStyle/>
          <a:p>
            <a:pPr algn="ctr"/>
            <a:r>
              <a:rPr sz="1200" b="0">
                <a:solidFill>
                  <a:srgbClr val="27303B"/>
                </a:solidFill>
                <a:latin typeface="Noto Sans CJK KR"/>
              </a:rPr>
              <a:t>슬롯 배치 수정
12프레임 연속 검증</a:t>
            </a:r>
          </a:p>
        </p:txBody>
      </p:sp>
      <p:sp>
        <p:nvSpPr>
          <p:cNvPr id="38" name="Rounded Rectangle 37"/>
          <p:cNvSpPr/>
          <p:nvPr/>
        </p:nvSpPr>
        <p:spPr>
          <a:xfrm>
            <a:off x="502920" y="5925312"/>
            <a:ext cx="11201400" cy="429768"/>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0080" y="5925312"/>
            <a:ext cx="10927080" cy="429768"/>
          </a:xfrm>
          <a:prstGeom prst="rect">
            <a:avLst/>
          </a:prstGeom>
          <a:noFill/>
        </p:spPr>
        <p:txBody>
          <a:bodyPr wrap="none" lIns="45720" rIns="45720" anchor="ctr">
            <a:spAutoFit/>
          </a:bodyPr>
          <a:lstStyle/>
          <a:p>
            <a:pPr algn="ctr"/>
            <a:r>
              <a:rPr sz="1200" b="1">
                <a:solidFill>
                  <a:srgbClr val="FFFFFF"/>
                </a:solidFill>
                <a:latin typeface="Noto Sans CJK KR"/>
              </a:rPr>
              <a:t>핵심 교훈  |  IP 단품 성공 ≠ 전체 시스템 성공   →   자원·주소·배열·전송을 함께 검증</a:t>
            </a:r>
          </a:p>
        </p:txBody>
      </p:sp>
      <p:sp>
        <p:nvSpPr>
          <p:cNvPr id="40" name="TextBox 39"/>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1" name="TextBox 40"/>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KV260의 SW–HW 하이브리드 추론</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전체 YOLO를 나누어 CPU 전처리, FPGA model.6, CPU 후처리로 실행</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7472" y="1234440"/>
            <a:ext cx="1298448" cy="850392"/>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3192" y="1335024"/>
            <a:ext cx="1207008" cy="640080"/>
          </a:xfrm>
          <a:prstGeom prst="rect">
            <a:avLst/>
          </a:prstGeom>
          <a:noFill/>
        </p:spPr>
        <p:txBody>
          <a:bodyPr wrap="none" lIns="45720" rIns="45720" anchor="ctr">
            <a:spAutoFit/>
          </a:bodyPr>
          <a:lstStyle/>
          <a:p>
            <a:pPr algn="ctr"/>
            <a:r>
              <a:rPr sz="1200" b="1">
                <a:solidFill>
                  <a:srgbClr val="236CB4"/>
                </a:solidFill>
                <a:latin typeface="Noto Sans CJK KR"/>
              </a:rPr>
              <a:t>Webcam</a:t>
            </a:r>
          </a:p>
        </p:txBody>
      </p:sp>
      <p:sp>
        <p:nvSpPr>
          <p:cNvPr id="10" name="Right Arrow 9"/>
          <p:cNvSpPr/>
          <p:nvPr/>
        </p:nvSpPr>
        <p:spPr>
          <a:xfrm>
            <a:off x="1673352" y="1517904"/>
            <a:ext cx="301752"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984248" y="1234440"/>
            <a:ext cx="1298448" cy="850392"/>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29967" y="1335024"/>
            <a:ext cx="1207008" cy="640080"/>
          </a:xfrm>
          <a:prstGeom prst="rect">
            <a:avLst/>
          </a:prstGeom>
          <a:noFill/>
        </p:spPr>
        <p:txBody>
          <a:bodyPr wrap="none" lIns="45720" rIns="45720" anchor="ctr">
            <a:spAutoFit/>
          </a:bodyPr>
          <a:lstStyle/>
          <a:p>
            <a:pPr algn="ctr"/>
            <a:r>
              <a:rPr sz="1200" b="1">
                <a:solidFill>
                  <a:srgbClr val="21AABE"/>
                </a:solidFill>
                <a:latin typeface="Noto Sans CJK KR"/>
              </a:rPr>
              <a:t>PRE
model.0~5</a:t>
            </a:r>
          </a:p>
        </p:txBody>
      </p:sp>
      <p:sp>
        <p:nvSpPr>
          <p:cNvPr id="13" name="Right Arrow 12"/>
          <p:cNvSpPr/>
          <p:nvPr/>
        </p:nvSpPr>
        <p:spPr>
          <a:xfrm>
            <a:off x="3310128" y="1517904"/>
            <a:ext cx="301752"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21024" y="1234440"/>
            <a:ext cx="1298448" cy="850392"/>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66744" y="1335024"/>
            <a:ext cx="1207008" cy="640080"/>
          </a:xfrm>
          <a:prstGeom prst="rect">
            <a:avLst/>
          </a:prstGeom>
          <a:noFill/>
        </p:spPr>
        <p:txBody>
          <a:bodyPr wrap="none" lIns="45720" rIns="45720" anchor="ctr">
            <a:spAutoFit/>
          </a:bodyPr>
          <a:lstStyle/>
          <a:p>
            <a:pPr algn="ctr"/>
            <a:r>
              <a:rPr sz="1200" b="1">
                <a:solidFill>
                  <a:srgbClr val="EB8B36"/>
                </a:solidFill>
                <a:latin typeface="Noto Sans CJK KR"/>
              </a:rPr>
              <a:t>INT8
양자화</a:t>
            </a:r>
          </a:p>
        </p:txBody>
      </p:sp>
      <p:sp>
        <p:nvSpPr>
          <p:cNvPr id="16" name="Right Arrow 15"/>
          <p:cNvSpPr/>
          <p:nvPr/>
        </p:nvSpPr>
        <p:spPr>
          <a:xfrm>
            <a:off x="4946904" y="1517904"/>
            <a:ext cx="301752"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257800" y="1234440"/>
            <a:ext cx="1298448" cy="850392"/>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03520" y="1335024"/>
            <a:ext cx="1207008" cy="640080"/>
          </a:xfrm>
          <a:prstGeom prst="rect">
            <a:avLst/>
          </a:prstGeom>
          <a:noFill/>
        </p:spPr>
        <p:txBody>
          <a:bodyPr wrap="none" lIns="45720" rIns="45720" anchor="ctr">
            <a:spAutoFit/>
          </a:bodyPr>
          <a:lstStyle/>
          <a:p>
            <a:pPr algn="ctr"/>
            <a:r>
              <a:rPr sz="1200" b="1">
                <a:solidFill>
                  <a:srgbClr val="329C69"/>
                </a:solidFill>
                <a:latin typeface="Noto Sans CJK KR"/>
              </a:rPr>
              <a:t>FPGA
model.6</a:t>
            </a:r>
          </a:p>
        </p:txBody>
      </p:sp>
      <p:sp>
        <p:nvSpPr>
          <p:cNvPr id="19" name="Right Arrow 18"/>
          <p:cNvSpPr/>
          <p:nvPr/>
        </p:nvSpPr>
        <p:spPr>
          <a:xfrm>
            <a:off x="6583680" y="1517904"/>
            <a:ext cx="301752"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894576" y="1234440"/>
            <a:ext cx="1298448" cy="850392"/>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0296" y="1335024"/>
            <a:ext cx="1207008" cy="640080"/>
          </a:xfrm>
          <a:prstGeom prst="rect">
            <a:avLst/>
          </a:prstGeom>
          <a:noFill/>
        </p:spPr>
        <p:txBody>
          <a:bodyPr wrap="none" lIns="45720" rIns="45720" anchor="ctr">
            <a:spAutoFit/>
          </a:bodyPr>
          <a:lstStyle/>
          <a:p>
            <a:pPr algn="ctr"/>
            <a:r>
              <a:rPr sz="1200" b="1">
                <a:solidFill>
                  <a:srgbClr val="EB8B36"/>
                </a:solidFill>
                <a:latin typeface="Noto Sans CJK KR"/>
              </a:rPr>
              <a:t>역양자화</a:t>
            </a:r>
          </a:p>
        </p:txBody>
      </p:sp>
      <p:sp>
        <p:nvSpPr>
          <p:cNvPr id="22" name="Right Arrow 21"/>
          <p:cNvSpPr/>
          <p:nvPr/>
        </p:nvSpPr>
        <p:spPr>
          <a:xfrm>
            <a:off x="8220456" y="1517904"/>
            <a:ext cx="301752"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531352" y="1234440"/>
            <a:ext cx="1298448" cy="850392"/>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77072" y="1335024"/>
            <a:ext cx="1207008" cy="640080"/>
          </a:xfrm>
          <a:prstGeom prst="rect">
            <a:avLst/>
          </a:prstGeom>
          <a:noFill/>
        </p:spPr>
        <p:txBody>
          <a:bodyPr wrap="none" lIns="45720" rIns="45720" anchor="ctr">
            <a:spAutoFit/>
          </a:bodyPr>
          <a:lstStyle/>
          <a:p>
            <a:pPr algn="ctr"/>
            <a:r>
              <a:rPr sz="1200" b="1">
                <a:solidFill>
                  <a:srgbClr val="21AABE"/>
                </a:solidFill>
                <a:latin typeface="Noto Sans CJK KR"/>
              </a:rPr>
              <a:t>POST
cv2+7~22</a:t>
            </a:r>
          </a:p>
        </p:txBody>
      </p:sp>
      <p:sp>
        <p:nvSpPr>
          <p:cNvPr id="25" name="Right Arrow 24"/>
          <p:cNvSpPr/>
          <p:nvPr/>
        </p:nvSpPr>
        <p:spPr>
          <a:xfrm>
            <a:off x="9857232" y="1517904"/>
            <a:ext cx="301752"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0168128" y="1234440"/>
            <a:ext cx="1298448" cy="850392"/>
          </a:xfrm>
          <a:prstGeom prst="roundRect">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13848" y="1335024"/>
            <a:ext cx="1207008" cy="640080"/>
          </a:xfrm>
          <a:prstGeom prst="rect">
            <a:avLst/>
          </a:prstGeom>
          <a:noFill/>
        </p:spPr>
        <p:txBody>
          <a:bodyPr wrap="none" lIns="45720" rIns="45720" anchor="ctr">
            <a:spAutoFit/>
          </a:bodyPr>
          <a:lstStyle/>
          <a:p>
            <a:pPr algn="ctr"/>
            <a:r>
              <a:rPr sz="1200" b="1">
                <a:solidFill>
                  <a:srgbClr val="0E1F35"/>
                </a:solidFill>
                <a:latin typeface="Noto Sans CJK KR"/>
              </a:rPr>
              <a:t>Box·Class
FPS</a:t>
            </a:r>
          </a:p>
        </p:txBody>
      </p:sp>
      <p:sp>
        <p:nvSpPr>
          <p:cNvPr id="28" name="Rounded Rectangle 27"/>
          <p:cNvSpPr/>
          <p:nvPr/>
        </p:nvSpPr>
        <p:spPr>
          <a:xfrm>
            <a:off x="502920" y="2560320"/>
            <a:ext cx="5440680" cy="3364992"/>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2761488"/>
            <a:ext cx="5074920"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30" name="TextBox 29"/>
          <p:cNvSpPr txBox="1"/>
          <p:nvPr/>
        </p:nvSpPr>
        <p:spPr>
          <a:xfrm>
            <a:off x="731520" y="3872666"/>
            <a:ext cx="4983480" cy="411480"/>
          </a:xfrm>
          <a:prstGeom prst="rect">
            <a:avLst/>
          </a:prstGeom>
          <a:noFill/>
        </p:spPr>
        <p:txBody>
          <a:bodyPr wrap="none" lIns="45720" rIns="45720" anchor="ctr">
            <a:spAutoFit/>
          </a:bodyPr>
          <a:lstStyle/>
          <a:p>
            <a:pPr algn="ctr"/>
            <a:r>
              <a:rPr sz="1800" b="1">
                <a:solidFill>
                  <a:srgbClr val="0E1F35"/>
                </a:solidFill>
                <a:latin typeface="Noto Sans CJK KR"/>
              </a:rPr>
              <a:t>KV260 터미널 실행 화면</a:t>
            </a:r>
          </a:p>
        </p:txBody>
      </p:sp>
      <p:sp>
        <p:nvSpPr>
          <p:cNvPr id="31" name="TextBox 30"/>
          <p:cNvSpPr txBox="1"/>
          <p:nvPr/>
        </p:nvSpPr>
        <p:spPr>
          <a:xfrm>
            <a:off x="822960" y="4612965"/>
            <a:ext cx="4800600" cy="841248"/>
          </a:xfrm>
          <a:prstGeom prst="rect">
            <a:avLst/>
          </a:prstGeom>
          <a:noFill/>
        </p:spPr>
        <p:txBody>
          <a:bodyPr wrap="none" lIns="45720" rIns="45720" anchor="ctr">
            <a:spAutoFit/>
          </a:bodyPr>
          <a:lstStyle/>
          <a:p>
            <a:pPr algn="ctr"/>
            <a:r>
              <a:rPr sz="1000" b="0">
                <a:solidFill>
                  <a:srgbClr val="66717C"/>
                </a:solidFill>
                <a:latin typeface="Noto Sans CJK KR"/>
              </a:rPr>
              <a:t>lsusb의 Logitech C270, /dev/video0,
비트스트림 로드와 실행 명령을 캡처</a:t>
            </a:r>
          </a:p>
        </p:txBody>
      </p:sp>
      <p:sp>
        <p:nvSpPr>
          <p:cNvPr id="32" name="Rounded Rectangle 31"/>
          <p:cNvSpPr/>
          <p:nvPr/>
        </p:nvSpPr>
        <p:spPr>
          <a:xfrm>
            <a:off x="6263640" y="2560320"/>
            <a:ext cx="5440680" cy="3364992"/>
          </a:xfrm>
          <a:prstGeom prst="round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2816352"/>
            <a:ext cx="4892040" cy="329184"/>
          </a:xfrm>
          <a:prstGeom prst="rect">
            <a:avLst/>
          </a:prstGeom>
          <a:noFill/>
        </p:spPr>
        <p:txBody>
          <a:bodyPr wrap="none" lIns="45720" rIns="45720" anchor="ctr">
            <a:spAutoFit/>
          </a:bodyPr>
          <a:lstStyle/>
          <a:p>
            <a:pPr algn="l"/>
            <a:r>
              <a:rPr sz="1800" b="1">
                <a:solidFill>
                  <a:srgbClr val="0E1F35"/>
                </a:solidFill>
                <a:latin typeface="Noto Sans CJK KR"/>
              </a:rPr>
              <a:t>특징맵 경계 규약</a:t>
            </a:r>
          </a:p>
        </p:txBody>
      </p:sp>
      <p:sp>
        <p:nvSpPr>
          <p:cNvPr id="34" name="Rounded Rectangle 33"/>
          <p:cNvSpPr/>
          <p:nvPr/>
        </p:nvSpPr>
        <p:spPr>
          <a:xfrm>
            <a:off x="6537960" y="3401568"/>
            <a:ext cx="123444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0" y="3401568"/>
            <a:ext cx="1143000" cy="411480"/>
          </a:xfrm>
          <a:prstGeom prst="rect">
            <a:avLst/>
          </a:prstGeom>
          <a:noFill/>
        </p:spPr>
        <p:txBody>
          <a:bodyPr wrap="none" lIns="45720" rIns="45720" anchor="ctr">
            <a:spAutoFit/>
          </a:bodyPr>
          <a:lstStyle/>
          <a:p>
            <a:pPr algn="ctr"/>
            <a:r>
              <a:rPr sz="1100" b="1">
                <a:solidFill>
                  <a:srgbClr val="FFFFFF"/>
                </a:solidFill>
                <a:latin typeface="Noto Sans CJK KR"/>
              </a:rPr>
              <a:t>FPGA 입력</a:t>
            </a:r>
          </a:p>
        </p:txBody>
      </p:sp>
      <p:sp>
        <p:nvSpPr>
          <p:cNvPr id="36" name="TextBox 35"/>
          <p:cNvSpPr txBox="1"/>
          <p:nvPr/>
        </p:nvSpPr>
        <p:spPr>
          <a:xfrm>
            <a:off x="7973568" y="3401568"/>
            <a:ext cx="1874519" cy="411480"/>
          </a:xfrm>
          <a:prstGeom prst="rect">
            <a:avLst/>
          </a:prstGeom>
          <a:noFill/>
        </p:spPr>
        <p:txBody>
          <a:bodyPr wrap="none" lIns="45720" rIns="45720" anchor="ctr">
            <a:spAutoFit/>
          </a:bodyPr>
          <a:lstStyle/>
          <a:p>
            <a:pPr algn="ctr"/>
            <a:r>
              <a:rPr sz="1300" b="1">
                <a:solidFill>
                  <a:srgbClr val="27303B"/>
                </a:solidFill>
                <a:latin typeface="Noto Sans CJK KR"/>
              </a:rPr>
              <a:t>128 × 40 × 40</a:t>
            </a:r>
          </a:p>
        </p:txBody>
      </p:sp>
      <p:sp>
        <p:nvSpPr>
          <p:cNvPr id="37" name="TextBox 36"/>
          <p:cNvSpPr txBox="1"/>
          <p:nvPr/>
        </p:nvSpPr>
        <p:spPr>
          <a:xfrm>
            <a:off x="9985248" y="3401568"/>
            <a:ext cx="1216152" cy="411480"/>
          </a:xfrm>
          <a:prstGeom prst="rect">
            <a:avLst/>
          </a:prstGeom>
          <a:noFill/>
        </p:spPr>
        <p:txBody>
          <a:bodyPr wrap="none" lIns="45720" rIns="45720" anchor="ctr">
            <a:spAutoFit/>
          </a:bodyPr>
          <a:lstStyle/>
          <a:p>
            <a:pPr algn="ctr"/>
            <a:r>
              <a:rPr sz="1100" b="0">
                <a:solidFill>
                  <a:srgbClr val="66717C"/>
                </a:solidFill>
                <a:latin typeface="Noto Sans CJK KR"/>
              </a:rPr>
              <a:t>204,800 B</a:t>
            </a:r>
          </a:p>
        </p:txBody>
      </p:sp>
      <p:sp>
        <p:nvSpPr>
          <p:cNvPr id="38" name="Rounded Rectangle 37"/>
          <p:cNvSpPr/>
          <p:nvPr/>
        </p:nvSpPr>
        <p:spPr>
          <a:xfrm>
            <a:off x="6537960" y="4069080"/>
            <a:ext cx="123444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0" y="4069080"/>
            <a:ext cx="1143000" cy="411480"/>
          </a:xfrm>
          <a:prstGeom prst="rect">
            <a:avLst/>
          </a:prstGeom>
          <a:noFill/>
        </p:spPr>
        <p:txBody>
          <a:bodyPr wrap="none" lIns="45720" rIns="45720" anchor="ctr">
            <a:spAutoFit/>
          </a:bodyPr>
          <a:lstStyle/>
          <a:p>
            <a:pPr algn="ctr"/>
            <a:r>
              <a:rPr sz="1100" b="1">
                <a:solidFill>
                  <a:srgbClr val="FFFFFF"/>
                </a:solidFill>
                <a:latin typeface="Noto Sans CJK KR"/>
              </a:rPr>
              <a:t>FPGA 출력</a:t>
            </a:r>
          </a:p>
        </p:txBody>
      </p:sp>
      <p:sp>
        <p:nvSpPr>
          <p:cNvPr id="40" name="TextBox 39"/>
          <p:cNvSpPr txBox="1"/>
          <p:nvPr/>
        </p:nvSpPr>
        <p:spPr>
          <a:xfrm>
            <a:off x="7973568" y="4069080"/>
            <a:ext cx="1874519" cy="411480"/>
          </a:xfrm>
          <a:prstGeom prst="rect">
            <a:avLst/>
          </a:prstGeom>
          <a:noFill/>
        </p:spPr>
        <p:txBody>
          <a:bodyPr wrap="none" lIns="45720" rIns="45720" anchor="ctr">
            <a:spAutoFit/>
          </a:bodyPr>
          <a:lstStyle/>
          <a:p>
            <a:pPr algn="ctr"/>
            <a:r>
              <a:rPr sz="1300" b="1">
                <a:solidFill>
                  <a:srgbClr val="27303B"/>
                </a:solidFill>
                <a:latin typeface="Noto Sans CJK KR"/>
              </a:rPr>
              <a:t>256 × 40 × 40</a:t>
            </a:r>
          </a:p>
        </p:txBody>
      </p:sp>
      <p:sp>
        <p:nvSpPr>
          <p:cNvPr id="41" name="TextBox 40"/>
          <p:cNvSpPr txBox="1"/>
          <p:nvPr/>
        </p:nvSpPr>
        <p:spPr>
          <a:xfrm>
            <a:off x="9985248" y="4069080"/>
            <a:ext cx="1216152" cy="411480"/>
          </a:xfrm>
          <a:prstGeom prst="rect">
            <a:avLst/>
          </a:prstGeom>
          <a:noFill/>
        </p:spPr>
        <p:txBody>
          <a:bodyPr wrap="none" lIns="45720" rIns="45720" anchor="ctr">
            <a:spAutoFit/>
          </a:bodyPr>
          <a:lstStyle/>
          <a:p>
            <a:pPr algn="ctr"/>
            <a:r>
              <a:rPr sz="1100" b="0">
                <a:solidFill>
                  <a:srgbClr val="66717C"/>
                </a:solidFill>
                <a:latin typeface="Noto Sans CJK KR"/>
              </a:rPr>
              <a:t>409,600 B</a:t>
            </a:r>
          </a:p>
        </p:txBody>
      </p:sp>
      <p:sp>
        <p:nvSpPr>
          <p:cNvPr id="42" name="TextBox 41"/>
          <p:cNvSpPr txBox="1"/>
          <p:nvPr/>
        </p:nvSpPr>
        <p:spPr>
          <a:xfrm>
            <a:off x="6537960" y="4764024"/>
            <a:ext cx="4754880" cy="301752"/>
          </a:xfrm>
          <a:prstGeom prst="rect">
            <a:avLst/>
          </a:prstGeom>
          <a:noFill/>
        </p:spPr>
        <p:txBody>
          <a:bodyPr wrap="none" lIns="45720" rIns="45720" anchor="ctr">
            <a:spAutoFit/>
          </a:bodyPr>
          <a:lstStyle/>
          <a:p>
            <a:pPr algn="ctr"/>
            <a:r>
              <a:rPr sz="1300" b="1">
                <a:solidFill>
                  <a:srgbClr val="EB8B36"/>
                </a:solidFill>
                <a:latin typeface="Noto Sans CJK KR"/>
              </a:rPr>
              <a:t>배열: HWC  |  자료형: INT8</a:t>
            </a:r>
          </a:p>
        </p:txBody>
      </p:sp>
      <p:sp>
        <p:nvSpPr>
          <p:cNvPr id="43" name="TextBox 42"/>
          <p:cNvSpPr txBox="1"/>
          <p:nvPr/>
        </p:nvSpPr>
        <p:spPr>
          <a:xfrm>
            <a:off x="6537960" y="5230368"/>
            <a:ext cx="4754880" cy="429768"/>
          </a:xfrm>
          <a:prstGeom prst="rect">
            <a:avLst/>
          </a:prstGeom>
          <a:noFill/>
        </p:spPr>
        <p:txBody>
          <a:bodyPr wrap="none" lIns="45720" rIns="45720" anchor="ctr">
            <a:spAutoFit/>
          </a:bodyPr>
          <a:lstStyle/>
          <a:p>
            <a:pPr algn="ctr"/>
            <a:r>
              <a:rPr sz="1100" b="0">
                <a:solidFill>
                  <a:srgbClr val="27303B"/>
                </a:solidFill>
                <a:latin typeface="Noto Sans CJK KR"/>
              </a:rPr>
              <a:t>CPU와 FPGA가 각자 잘하는 구간을 담당하고
DMA가 두 영역 사이의 데이터를 전송</a:t>
            </a:r>
          </a:p>
        </p:txBody>
      </p:sp>
      <p:sp>
        <p:nvSpPr>
          <p:cNvPr id="44" name="TextBox 43"/>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5" name="TextBox 44"/>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실시간 웹캠 PPE 탐지 결과</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FPGA model.6의 특징맵이 최종 박스·클래스·신뢰도로 연결</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069848"/>
            <a:ext cx="7635240" cy="5230368"/>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71016"/>
            <a:ext cx="726947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0" name="TextBox 9"/>
          <p:cNvSpPr txBox="1"/>
          <p:nvPr/>
        </p:nvSpPr>
        <p:spPr>
          <a:xfrm>
            <a:off x="640080" y="3109691"/>
            <a:ext cx="7178040" cy="411480"/>
          </a:xfrm>
          <a:prstGeom prst="rect">
            <a:avLst/>
          </a:prstGeom>
          <a:noFill/>
        </p:spPr>
        <p:txBody>
          <a:bodyPr wrap="none" lIns="45720" rIns="45720" anchor="ctr">
            <a:spAutoFit/>
          </a:bodyPr>
          <a:lstStyle/>
          <a:p>
            <a:pPr algn="ctr"/>
            <a:r>
              <a:rPr sz="1800" b="1">
                <a:solidFill>
                  <a:srgbClr val="0E1F35"/>
                </a:solidFill>
                <a:latin typeface="Noto Sans CJK KR"/>
              </a:rPr>
              <a:t>실시간 PPE 탐지 화면</a:t>
            </a:r>
          </a:p>
        </p:txBody>
      </p:sp>
      <p:sp>
        <p:nvSpPr>
          <p:cNvPr id="11" name="TextBox 10"/>
          <p:cNvSpPr txBox="1"/>
          <p:nvPr/>
        </p:nvSpPr>
        <p:spPr>
          <a:xfrm>
            <a:off x="731520" y="4260372"/>
            <a:ext cx="6995159" cy="1307592"/>
          </a:xfrm>
          <a:prstGeom prst="rect">
            <a:avLst/>
          </a:prstGeom>
          <a:noFill/>
        </p:spPr>
        <p:txBody>
          <a:bodyPr wrap="none" lIns="45720" rIns="45720" anchor="ctr">
            <a:spAutoFit/>
          </a:bodyPr>
          <a:lstStyle/>
          <a:p>
            <a:pPr algn="ctr"/>
            <a:r>
              <a:rPr sz="1000" b="0">
                <a:solidFill>
                  <a:srgbClr val="66717C"/>
                </a:solidFill>
                <a:latin typeface="Noto Sans CJK KR"/>
              </a:rPr>
              <a:t>Person·Hardhat·Safety Vest 박스와
Current/Avg FPS가 보이는 프레임 캡처</a:t>
            </a:r>
          </a:p>
        </p:txBody>
      </p:sp>
      <p:sp>
        <p:nvSpPr>
          <p:cNvPr id="12" name="Rounded Rectangle 11"/>
          <p:cNvSpPr/>
          <p:nvPr/>
        </p:nvSpPr>
        <p:spPr>
          <a:xfrm>
            <a:off x="8302752" y="1069848"/>
            <a:ext cx="3401568" cy="1115568"/>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85632" y="1188719"/>
            <a:ext cx="1417320" cy="320040"/>
          </a:xfrm>
          <a:prstGeom prst="rect">
            <a:avLst/>
          </a:prstGeom>
          <a:noFill/>
        </p:spPr>
        <p:txBody>
          <a:bodyPr wrap="none" lIns="45720" rIns="45720" anchor="ctr">
            <a:spAutoFit/>
          </a:bodyPr>
          <a:lstStyle/>
          <a:p>
            <a:pPr algn="l"/>
            <a:r>
              <a:rPr sz="1100" b="1">
                <a:solidFill>
                  <a:srgbClr val="236CB4"/>
                </a:solidFill>
                <a:latin typeface="Noto Sans CJK KR"/>
              </a:rPr>
              <a:t>경계 y0/y1</a:t>
            </a:r>
          </a:p>
        </p:txBody>
      </p:sp>
      <p:sp>
        <p:nvSpPr>
          <p:cNvPr id="14" name="TextBox 13"/>
          <p:cNvSpPr txBox="1"/>
          <p:nvPr/>
        </p:nvSpPr>
        <p:spPr>
          <a:xfrm>
            <a:off x="9848088" y="1234439"/>
            <a:ext cx="1600200" cy="658368"/>
          </a:xfrm>
          <a:prstGeom prst="rect">
            <a:avLst/>
          </a:prstGeom>
          <a:noFill/>
        </p:spPr>
        <p:txBody>
          <a:bodyPr wrap="none" lIns="45720" rIns="45720" anchor="ctr">
            <a:spAutoFit/>
          </a:bodyPr>
          <a:lstStyle/>
          <a:p>
            <a:pPr algn="ctr"/>
            <a:r>
              <a:rPr sz="1600" b="1">
                <a:solidFill>
                  <a:srgbClr val="0E1F35"/>
                </a:solidFill>
                <a:latin typeface="Noto Sans CJK KR"/>
              </a:rPr>
              <a:t>204,800 B
100% 일치</a:t>
            </a:r>
          </a:p>
        </p:txBody>
      </p:sp>
      <p:sp>
        <p:nvSpPr>
          <p:cNvPr id="15" name="Rounded Rectangle 14"/>
          <p:cNvSpPr/>
          <p:nvPr/>
        </p:nvSpPr>
        <p:spPr>
          <a:xfrm>
            <a:off x="8302752" y="2368296"/>
            <a:ext cx="3401568" cy="1115568"/>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2487168"/>
            <a:ext cx="1417320" cy="320040"/>
          </a:xfrm>
          <a:prstGeom prst="rect">
            <a:avLst/>
          </a:prstGeom>
          <a:noFill/>
        </p:spPr>
        <p:txBody>
          <a:bodyPr wrap="none" lIns="45720" rIns="45720" anchor="ctr">
            <a:spAutoFit/>
          </a:bodyPr>
          <a:lstStyle/>
          <a:p>
            <a:pPr algn="l"/>
            <a:r>
              <a:rPr sz="1100" b="1">
                <a:solidFill>
                  <a:srgbClr val="21AABE"/>
                </a:solidFill>
                <a:latin typeface="Noto Sans CJK KR"/>
              </a:rPr>
              <a:t>전체 특징</a:t>
            </a:r>
          </a:p>
        </p:txBody>
      </p:sp>
      <p:sp>
        <p:nvSpPr>
          <p:cNvPr id="17" name="TextBox 16"/>
          <p:cNvSpPr txBox="1"/>
          <p:nvPr/>
        </p:nvSpPr>
        <p:spPr>
          <a:xfrm>
            <a:off x="9848088" y="2532888"/>
            <a:ext cx="1600200" cy="658368"/>
          </a:xfrm>
          <a:prstGeom prst="rect">
            <a:avLst/>
          </a:prstGeom>
          <a:noFill/>
        </p:spPr>
        <p:txBody>
          <a:bodyPr wrap="none" lIns="45720" rIns="45720" anchor="ctr">
            <a:spAutoFit/>
          </a:bodyPr>
          <a:lstStyle/>
          <a:p>
            <a:pPr algn="ctr"/>
            <a:r>
              <a:rPr sz="1600" b="1">
                <a:solidFill>
                  <a:srgbClr val="0E1F35"/>
                </a:solidFill>
                <a:latin typeface="Noto Sans CJK KR"/>
              </a:rPr>
              <a:t>Correlation
0.999</a:t>
            </a:r>
          </a:p>
        </p:txBody>
      </p:sp>
      <p:sp>
        <p:nvSpPr>
          <p:cNvPr id="18" name="Rounded Rectangle 17"/>
          <p:cNvSpPr/>
          <p:nvPr/>
        </p:nvSpPr>
        <p:spPr>
          <a:xfrm>
            <a:off x="8302752" y="3666744"/>
            <a:ext cx="3401568" cy="1115568"/>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85632" y="3785615"/>
            <a:ext cx="1417320" cy="320040"/>
          </a:xfrm>
          <a:prstGeom prst="rect">
            <a:avLst/>
          </a:prstGeom>
          <a:noFill/>
        </p:spPr>
        <p:txBody>
          <a:bodyPr wrap="none" lIns="45720" rIns="45720" anchor="ctr">
            <a:spAutoFit/>
          </a:bodyPr>
          <a:lstStyle/>
          <a:p>
            <a:pPr algn="l"/>
            <a:r>
              <a:rPr sz="1100" b="1">
                <a:solidFill>
                  <a:srgbClr val="329C69"/>
                </a:solidFill>
                <a:latin typeface="Noto Sans CJK KR"/>
              </a:rPr>
              <a:t>탐지 재현</a:t>
            </a:r>
          </a:p>
        </p:txBody>
      </p:sp>
      <p:sp>
        <p:nvSpPr>
          <p:cNvPr id="20" name="TextBox 19"/>
          <p:cNvSpPr txBox="1"/>
          <p:nvPr/>
        </p:nvSpPr>
        <p:spPr>
          <a:xfrm>
            <a:off x="9848088" y="3831335"/>
            <a:ext cx="1600200" cy="658368"/>
          </a:xfrm>
          <a:prstGeom prst="rect">
            <a:avLst/>
          </a:prstGeom>
          <a:noFill/>
        </p:spPr>
        <p:txBody>
          <a:bodyPr wrap="none" lIns="45720" rIns="45720" anchor="ctr">
            <a:spAutoFit/>
          </a:bodyPr>
          <a:lstStyle/>
          <a:p>
            <a:pPr algn="ctr"/>
            <a:r>
              <a:rPr sz="1600" b="1">
                <a:solidFill>
                  <a:srgbClr val="0E1F35"/>
                </a:solidFill>
                <a:latin typeface="Noto Sans CJK KR"/>
              </a:rPr>
              <a:t>88 / 90
97.8%</a:t>
            </a:r>
          </a:p>
        </p:txBody>
      </p:sp>
      <p:sp>
        <p:nvSpPr>
          <p:cNvPr id="21" name="Rounded Rectangle 20"/>
          <p:cNvSpPr/>
          <p:nvPr/>
        </p:nvSpPr>
        <p:spPr>
          <a:xfrm>
            <a:off x="8302752" y="4965192"/>
            <a:ext cx="3401568" cy="1115568"/>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85632" y="5084064"/>
            <a:ext cx="1417320" cy="320040"/>
          </a:xfrm>
          <a:prstGeom prst="rect">
            <a:avLst/>
          </a:prstGeom>
          <a:noFill/>
        </p:spPr>
        <p:txBody>
          <a:bodyPr wrap="none" lIns="45720" rIns="45720" anchor="ctr">
            <a:spAutoFit/>
          </a:bodyPr>
          <a:lstStyle/>
          <a:p>
            <a:pPr algn="l"/>
            <a:r>
              <a:rPr sz="1100" b="1">
                <a:solidFill>
                  <a:srgbClr val="EB8B36"/>
                </a:solidFill>
                <a:latin typeface="Noto Sans CJK KR"/>
              </a:rPr>
              <a:t>기본 파이프라인</a:t>
            </a:r>
          </a:p>
        </p:txBody>
      </p:sp>
      <p:sp>
        <p:nvSpPr>
          <p:cNvPr id="23" name="TextBox 22"/>
          <p:cNvSpPr txBox="1"/>
          <p:nvPr/>
        </p:nvSpPr>
        <p:spPr>
          <a:xfrm>
            <a:off x="9848088" y="5129783"/>
            <a:ext cx="1600200" cy="658368"/>
          </a:xfrm>
          <a:prstGeom prst="rect">
            <a:avLst/>
          </a:prstGeom>
          <a:noFill/>
        </p:spPr>
        <p:txBody>
          <a:bodyPr wrap="none" lIns="45720" rIns="45720" anchor="ctr">
            <a:spAutoFit/>
          </a:bodyPr>
          <a:lstStyle/>
          <a:p>
            <a:pPr algn="ctr"/>
            <a:r>
              <a:rPr sz="1600" b="1">
                <a:solidFill>
                  <a:srgbClr val="0E1F35"/>
                </a:solidFill>
                <a:latin typeface="Noto Sans CJK KR"/>
              </a:rPr>
              <a:t>1.265 s
0.79 FPS</a:t>
            </a:r>
          </a:p>
        </p:txBody>
      </p:sp>
      <p:sp>
        <p:nvSpPr>
          <p:cNvPr id="24" name="TextBox 23"/>
          <p:cNvSpPr txBox="1"/>
          <p:nvPr/>
        </p:nvSpPr>
        <p:spPr>
          <a:xfrm>
            <a:off x="8275320" y="5989320"/>
            <a:ext cx="3401568" cy="320040"/>
          </a:xfrm>
          <a:prstGeom prst="rect">
            <a:avLst/>
          </a:prstGeom>
          <a:noFill/>
        </p:spPr>
        <p:txBody>
          <a:bodyPr wrap="none" lIns="45720" rIns="45720" anchor="ctr">
            <a:spAutoFit/>
          </a:bodyPr>
          <a:lstStyle/>
          <a:p>
            <a:pPr algn="ctr"/>
            <a:r>
              <a:rPr sz="900" b="0">
                <a:solidFill>
                  <a:srgbClr val="66717C"/>
                </a:solidFill>
                <a:latin typeface="Noto Sans CJK KR"/>
              </a:rPr>
              <a:t>※ ORT/NCNN FPS는 실측 로그 후 추가</a:t>
            </a:r>
          </a:p>
        </p:txBody>
      </p:sp>
      <p:sp>
        <p:nvSpPr>
          <p:cNvPr id="25" name="TextBox 24"/>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6" name="TextBox 25"/>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성과, 한계, 그리고 다음 단계</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단일 IP의 속도보다 전체 연산 범위와 데이터 이동이 시스템 성능을 결정</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 y="1234440"/>
            <a:ext cx="3529584" cy="388620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3503" y="1417320"/>
            <a:ext cx="320040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성과</a:t>
            </a:r>
          </a:p>
        </p:txBody>
      </p:sp>
      <p:sp>
        <p:nvSpPr>
          <p:cNvPr id="11" name="TextBox 10"/>
          <p:cNvSpPr txBox="1"/>
          <p:nvPr/>
        </p:nvSpPr>
        <p:spPr>
          <a:xfrm>
            <a:off x="7315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10개 HLS IP 통합</a:t>
            </a:r>
          </a:p>
        </p:txBody>
      </p:sp>
      <p:sp>
        <p:nvSpPr>
          <p:cNvPr id="12" name="TextBox 11"/>
          <p:cNvSpPr txBox="1"/>
          <p:nvPr/>
        </p:nvSpPr>
        <p:spPr>
          <a:xfrm>
            <a:off x="7315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100 MHz Timing 만족</a:t>
            </a:r>
          </a:p>
        </p:txBody>
      </p:sp>
      <p:sp>
        <p:nvSpPr>
          <p:cNvPr id="13" name="TextBox 12"/>
          <p:cNvSpPr txBox="1"/>
          <p:nvPr/>
        </p:nvSpPr>
        <p:spPr>
          <a:xfrm>
            <a:off x="7315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Bitstream·KV260 실행</a:t>
            </a:r>
          </a:p>
        </p:txBody>
      </p:sp>
      <p:sp>
        <p:nvSpPr>
          <p:cNvPr id="14" name="TextBox 13"/>
          <p:cNvSpPr txBox="1"/>
          <p:nvPr/>
        </p:nvSpPr>
        <p:spPr>
          <a:xfrm>
            <a:off x="7315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97.8% 검출 재현</a:t>
            </a:r>
          </a:p>
        </p:txBody>
      </p:sp>
      <p:sp>
        <p:nvSpPr>
          <p:cNvPr id="15" name="Rounded Rectangle 14"/>
          <p:cNvSpPr/>
          <p:nvPr/>
        </p:nvSpPr>
        <p:spPr>
          <a:xfrm>
            <a:off x="4325112" y="1234440"/>
            <a:ext cx="3529584" cy="388620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9704" y="1417320"/>
            <a:ext cx="32004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한계</a:t>
            </a:r>
          </a:p>
        </p:txBody>
      </p:sp>
      <p:sp>
        <p:nvSpPr>
          <p:cNvPr id="18" name="TextBox 17"/>
          <p:cNvSpPr txBox="1"/>
          <p:nvPr/>
        </p:nvSpPr>
        <p:spPr>
          <a:xfrm>
            <a:off x="46177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model.6는 전체의 6.5%</a:t>
            </a:r>
          </a:p>
        </p:txBody>
      </p:sp>
      <p:sp>
        <p:nvSpPr>
          <p:cNvPr id="19" name="TextBox 18"/>
          <p:cNvSpPr txBox="1"/>
          <p:nvPr/>
        </p:nvSpPr>
        <p:spPr>
          <a:xfrm>
            <a:off x="46177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FPGA 절감은 약 0.022초</a:t>
            </a:r>
          </a:p>
        </p:txBody>
      </p:sp>
      <p:sp>
        <p:nvSpPr>
          <p:cNvPr id="20" name="TextBox 19"/>
          <p:cNvSpPr txBox="1"/>
          <p:nvPr/>
        </p:nvSpPr>
        <p:spPr>
          <a:xfrm>
            <a:off x="46177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CPU 앞·뒤 구간이 병목</a:t>
            </a:r>
          </a:p>
        </p:txBody>
      </p:sp>
      <p:sp>
        <p:nvSpPr>
          <p:cNvPr id="21" name="TextBox 20"/>
          <p:cNvSpPr txBox="1"/>
          <p:nvPr/>
        </p:nvSpPr>
        <p:spPr>
          <a:xfrm>
            <a:off x="46177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왕복 비용 존재</a:t>
            </a:r>
          </a:p>
        </p:txBody>
      </p:sp>
      <p:sp>
        <p:nvSpPr>
          <p:cNvPr id="22" name="Rounded Rectangle 21"/>
          <p:cNvSpPr/>
          <p:nvPr/>
        </p:nvSpPr>
        <p:spPr>
          <a:xfrm>
            <a:off x="8211312" y="1234440"/>
            <a:ext cx="3529584" cy="388620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75904" y="1417320"/>
            <a:ext cx="320040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향후 개선</a:t>
            </a:r>
          </a:p>
        </p:txBody>
      </p:sp>
      <p:sp>
        <p:nvSpPr>
          <p:cNvPr id="25" name="TextBox 24"/>
          <p:cNvSpPr txBox="1"/>
          <p:nvPr/>
        </p:nvSpPr>
        <p:spPr>
          <a:xfrm>
            <a:off x="85039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여러 C2f를 FPGA에 연속 배치</a:t>
            </a:r>
          </a:p>
        </p:txBody>
      </p:sp>
      <p:sp>
        <p:nvSpPr>
          <p:cNvPr id="26" name="TextBox 25"/>
          <p:cNvSpPr txBox="1"/>
          <p:nvPr/>
        </p:nvSpPr>
        <p:spPr>
          <a:xfrm>
            <a:off x="85039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DDR 중간 왕복 최소화</a:t>
            </a:r>
          </a:p>
        </p:txBody>
      </p:sp>
      <p:sp>
        <p:nvSpPr>
          <p:cNvPr id="27" name="TextBox 26"/>
          <p:cNvSpPr txBox="1"/>
          <p:nvPr/>
        </p:nvSpPr>
        <p:spPr>
          <a:xfrm>
            <a:off x="85039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Detection Head 가속</a:t>
            </a:r>
          </a:p>
        </p:txBody>
      </p:sp>
      <p:sp>
        <p:nvSpPr>
          <p:cNvPr id="28" name="TextBox 27"/>
          <p:cNvSpPr txBox="1"/>
          <p:nvPr/>
        </p:nvSpPr>
        <p:spPr>
          <a:xfrm>
            <a:off x="85039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ORT·NCNN·파이프라이닝</a:t>
            </a:r>
          </a:p>
        </p:txBody>
      </p:sp>
      <p:sp>
        <p:nvSpPr>
          <p:cNvPr id="29" name="Rounded Rectangle 28"/>
          <p:cNvSpPr/>
          <p:nvPr/>
        </p:nvSpPr>
        <p:spPr>
          <a:xfrm>
            <a:off x="438912" y="5440680"/>
            <a:ext cx="11301984" cy="80467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522976"/>
            <a:ext cx="10698480" cy="621792"/>
          </a:xfrm>
          <a:prstGeom prst="rect">
            <a:avLst/>
          </a:prstGeom>
          <a:noFill/>
        </p:spPr>
        <p:txBody>
          <a:bodyPr wrap="none" lIns="45720" rIns="45720" anchor="ctr">
            <a:spAutoFit/>
          </a:bodyPr>
          <a:lstStyle/>
          <a:p>
            <a:pPr algn="ctr"/>
            <a:r>
              <a:rPr sz="1400" b="1">
                <a:solidFill>
                  <a:srgbClr val="FFFFFF"/>
                </a:solidFill>
                <a:latin typeface="Noto Sans CJK KR"/>
              </a:rPr>
              <a:t>결론  |  FPGA model.6의 정확한 동작을 입증했고,
다음 성능 향상은 ‘더 넓은 연산 범위 + 데이터 이동 최소화’가 핵심</a:t>
            </a:r>
          </a:p>
        </p:txBody>
      </p:sp>
      <p:sp>
        <p:nvSpPr>
          <p:cNvPr id="31" name="TextBox 30"/>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Project Retrospective</a:t>
            </a:r>
          </a:p>
        </p:txBody>
      </p:sp>
      <p:sp>
        <p:nvSpPr>
          <p:cNvPr id="32" name="TextBox 31"/>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18</Slides>
  <Notes>13</Notes>
  <HiddenSlides>0</HiddenSlides>
  <ScaleCrop>false</ScaleCrop>
  <HeadingPairs>
    <vt:vector size="4" baseType="variant">
      <vt:variant>
        <vt:lpstr>테마</vt:lpstr>
      </vt:variant>
      <vt:variant>
        <vt:i4>1</vt:i4>
      </vt:variant>
      <vt:variant>
        <vt:lpstr>슬라이드 제목</vt:lpstr>
      </vt:variant>
      <vt:variant>
        <vt:i4>18</vt:i4>
      </vt:variant>
    </vt:vector>
  </HeadingPairs>
  <TitlesOfParts>
    <vt:vector size="19"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59</cp:revision>
  <dcterms:created xsi:type="dcterms:W3CDTF">2026-08-10T01:47:46Z</dcterms:created>
  <dcterms:modified xsi:type="dcterms:W3CDTF">2026-08-11T09:25:49Z</dcterms:modified>
</cp:coreProperties>
</file>