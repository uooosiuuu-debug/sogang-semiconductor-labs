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8"/>
    <p:sldId id="257" r:id="rId9"/>
    <p:sldId id="258" r:id="rId10"/>
    <p:sldId id="259" r:id="rId11"/>
    <p:sldId id="260" r:id="rId12"/>
    <p:sldId id="261"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4F5C72-00B2-41A8-A7E5-4DA6AE61A6E1}" v="52" dt="2026-08-10T05:21:42.983"/>
    <p1510:client id="{2EBFB4AE-0A2A-4AFD-A9EE-A92268D3D85C}" v="160" dt="2026-08-10T09:13:08.991"/>
    <p1510:client id="{3C30B0C6-B0F6-4A42-B71F-E335E3B5566B}" v="344" dt="2026-08-11T08:12:35.620"/>
    <p1510:client id="{48623BE5-BD53-4F1D-B199-64C60FEBAFE2}" v="694" dt="2026-08-10T07:06:43.790"/>
    <p1510:client id="{96E12B9F-A9C6-4B13-A2A7-356CE5D6F995}" v="129" dt="2026-08-11T05:02:46.974"/>
    <p1510:client id="{976FAA9D-DDC6-4A8F-A621-6C3EFF4B4946}" v="2315" dt="2026-08-11T07:17:34.956"/>
    <p1510:client id="{DCDD2C3C-152D-4C58-A44F-0DD5FCE59530}" v="159" dt="2026-08-10T02:05:41.096"/>
    <p1510:client id="{FBE15653-5827-A265-86D4-2BF8D9AA2764}" v="155" dt="2026-08-11T09:11:31.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04E1288-EED4-444D-99D3-DD43526BC351}" type="datetimeFigureOut">
              <a:t>2026-08-11</a:t>
            </a:fld>
            <a:endParaRPr lang="ko-KR" altLang="en-US"/>
          </a:p>
        </p:txBody>
      </p:sp>
      <p:sp>
        <p:nvSpPr>
          <p:cNvPr id="4" name="슬라이드 이미지 개체 틀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8E92029-F171-4FE6-AED7-3AF13C61E2E4}" type="slidenum">
              <a:t>‹#›</a:t>
            </a:fld>
            <a:endParaRPr lang="ko-KR" altLang="en-US"/>
          </a:p>
        </p:txBody>
      </p:sp>
    </p:spTree>
    <p:extLst>
      <p:ext uri="{BB962C8B-B14F-4D97-AF65-F5344CB8AC3E}">
        <p14:creationId xmlns:p14="http://schemas.microsoft.com/office/powerpoint/2010/main" val="41639862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프로젝트는 저를 포함한 다섯 명의 팀원이 공동으로 수행했으며 GitHub main의 전체 코드를 제가 혼자 개발한 것은 아닙니다. 제 담당은 조원들이 만든 HLS IP를 이해하고 model.6 C2f 블록으로 Vivado에 통합하는 일이었습니다. 처음에는 Codex에 프로젝트 규칙과 환경을 설정하고, 모델 구조와 설계 Flow 이미지를 보여 주어 코드의 shape와 데이터 흐름을 함께 확인했습니다. 이후 실제 GitHub와 로컬 파일, component.xml, Vivado와 Vitis 로그를 읽혀 AXI, DMA, Clock, Reset 연결과 병목 원인을 분석했습니다. 제가 Vivado 퍼센트, XSCT, KV260 SSH 터미널에서 명령을 실행하고 결과를 다시 전달하면 Codex가 다음 수정과 검증 절차를 제안하는 반복 방식으로 진행했습니다. 최종적으로 Bitstream과 KV260의 웹캠 장치 및 Overlay 로딩까지 직접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Vivado Block Design에서는 ARM CPU가 있는 PS와 FPGA 로직인 PL을 연결했습니다. 웹캠 영상 전체가 FPGA로 바로 들어가는 구조는 아닙니다. CPU가 YOLO model.0부터 5까지 계산한 후 128×40×40 특징맵을 DDR에 두고, AXI DMA가 이를 FPGA로 전송합니다. FPGA 내부의 HLS IP들은 AXI-Stream으로 연결되어 model.6를 처리하고, 256×40×40 결과를 DMA로 CPU에 돌려줍니다. AXI-Lite는 연산 시작과 스케일 설정을 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과정에서는 개별 IP의 연산보다 시스템 문제가 더 어려웠습니다. cv2까지 FPGA에 넣었을 때 자원이 포화되어 배치가 실패했고, cv2를 CPU로 이전해 LUT를 91퍼센트에서 56퍼센트로 낮춰습니다. DMA의 기본 전송 길이가 특징맵보다 작았고, CHW와 HWC 배열을 다르게 해석해 값이 뒤섞이는 문제도 있었습니다. 반복 프레임에서는 BN 파라미터 순서를 수정했습니다. 각 문제를 로그와 경계 데이터로 좁혀 가며 해결했습니다.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실제 개발 로그에서 가져온 기록입니다. Vivado에서는 최종 라우팅 WNS가 플러스 0.220나노초였고 DRC 오류 0, 비트스트림 생성 완료를 확인했습니다. 다음으로 Vitis 2022.2에서 하드웨어 플랫폼과 BSP를 구성하고 dma_loopback_v2 ELF를 빌드했습니다. Vitis 내부 XSCT가 FPGA 비트스트림과 XSA를 로드하고, FSBL과 ELF를 Cortex-A53에 다운로드했습니다. 다만 최종 UART DMA PASS 문자열은 보관 로그에 없기 때문에 성공으로 과장하지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현재 기록으로 직접 확인한 범위는 올바른 KV260에 SSH로 접속하고 Logitech C270 웹캠과 video0, video1 장치를 확인한 것, 그리고 PYNQ에서 model.6 Bitstream을 다운로드해 LOADED True와 IP 목록을 확인한 것까지입니다. DMA MMIO 읽기에서는 커널이 대기 상태가 되어 재시작했으므로 제 개인 실시간 PPE 탐지가 완료됐다고 발표하지 않습니다. 오른쪽의 탐지 화면은 조원이 성공시킨 팀 공동 결과를 넣을 수 있지만 반드시 팀 결과라고 표기해야 합니다. 이후 제가 같은 실행을 직접 재현하면 개인 검증 완료로 갱신할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 개인 성과는 model.6 HLS IP와 Block Design 통합, 100메가헤르츠 Timing 만족, DRC 오류 0, Bitstream과 XSA 생성, KV260 Overlay 로딩까지입니다. 팀 전체 저장소와 실시간 PPE 파이프라인은 다섯 명의 공동 결과이며 개인 기여와 구분해 설명합니다. Codex는 단순 답변기가 아니라 설계 이미지, GitHub와 로컬 소스, component XML, 로그와 리포트를 함께 분석하는 협업 도구로 사용했습니다. 그러나 모든 제안은 제가 실제 터미널에서 실행하고 결과를 다시 확인했습니다. 다음 단계는 DMA 단독 Loopback, Golden 특징맵 비교, 웹캠 전체 파이프라인 직접 재현과 FPS 측정입니다.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나의 담당 역할 — Codex와 model.6 FPGA 통합</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팀 공동 YOLOv8n 프로젝트에서 C2f 하드웨어 통합·디버깅·보드 구동을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1508760" cy="96012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527048"/>
            <a:ext cx="1362456" cy="731520"/>
          </a:xfrm>
          <a:prstGeom prst="rect">
            <a:avLst/>
          </a:prstGeom>
          <a:noFill/>
        </p:spPr>
        <p:txBody>
          <a:bodyPr wrap="none" lIns="45720" rIns="45720" anchor="ctr">
            <a:spAutoFit/>
          </a:bodyPr>
          <a:lstStyle/>
          <a:p>
            <a:pPr algn="ctr"/>
            <a:r>
              <a:rPr sz="1500" b="1">
                <a:solidFill>
                  <a:srgbClr val="236CB4"/>
                </a:solidFill>
                <a:latin typeface="Noto Sans CJK KR"/>
              </a:rPr>
              <a:t>구조·설계도
AI 분석</a:t>
            </a:r>
          </a:p>
        </p:txBody>
      </p:sp>
      <p:sp>
        <p:nvSpPr>
          <p:cNvPr id="10" name="Right Arrow 9"/>
          <p:cNvSpPr/>
          <p:nvPr/>
        </p:nvSpPr>
        <p:spPr>
          <a:xfrm>
            <a:off x="2066543"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04872" y="1417320"/>
            <a:ext cx="1508760" cy="960120"/>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1527048"/>
            <a:ext cx="1362456" cy="731520"/>
          </a:xfrm>
          <a:prstGeom prst="rect">
            <a:avLst/>
          </a:prstGeom>
          <a:noFill/>
        </p:spPr>
        <p:txBody>
          <a:bodyPr wrap="none" lIns="45720" rIns="45720" anchor="ctr">
            <a:spAutoFit/>
          </a:bodyPr>
          <a:lstStyle/>
          <a:p>
            <a:pPr algn="ctr"/>
            <a:r>
              <a:rPr sz="1500" b="1">
                <a:solidFill>
                  <a:srgbClr val="21AABE"/>
                </a:solidFill>
                <a:latin typeface="Noto Sans CJK KR"/>
              </a:rPr>
              <a:t>HLS IP
인터페이스</a:t>
            </a:r>
          </a:p>
        </p:txBody>
      </p:sp>
      <p:sp>
        <p:nvSpPr>
          <p:cNvPr id="13" name="Right Arrow 12"/>
          <p:cNvSpPr/>
          <p:nvPr/>
        </p:nvSpPr>
        <p:spPr>
          <a:xfrm>
            <a:off x="3968496"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6824" y="1417320"/>
            <a:ext cx="1508760" cy="96012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27048"/>
            <a:ext cx="1362456" cy="731520"/>
          </a:xfrm>
          <a:prstGeom prst="rect">
            <a:avLst/>
          </a:prstGeom>
          <a:noFill/>
        </p:spPr>
        <p:txBody>
          <a:bodyPr wrap="none" lIns="45720" rIns="45720" anchor="ctr">
            <a:spAutoFit/>
          </a:bodyPr>
          <a:lstStyle/>
          <a:p>
            <a:pPr algn="ctr"/>
            <a:r>
              <a:rPr sz="1500" b="1">
                <a:solidFill>
                  <a:srgbClr val="329C69"/>
                </a:solidFill>
                <a:latin typeface="Noto Sans CJK KR"/>
              </a:rPr>
              <a:t>Vivado BD
통합</a:t>
            </a:r>
          </a:p>
        </p:txBody>
      </p:sp>
      <p:sp>
        <p:nvSpPr>
          <p:cNvPr id="16" name="Right Arrow 15"/>
          <p:cNvSpPr/>
          <p:nvPr/>
        </p:nvSpPr>
        <p:spPr>
          <a:xfrm>
            <a:off x="5870448"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08776" y="1417320"/>
            <a:ext cx="1508760" cy="96012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527048"/>
            <a:ext cx="1362456" cy="731520"/>
          </a:xfrm>
          <a:prstGeom prst="rect">
            <a:avLst/>
          </a:prstGeom>
          <a:noFill/>
        </p:spPr>
        <p:txBody>
          <a:bodyPr wrap="none" lIns="45720" rIns="45720" anchor="ctr">
            <a:spAutoFit/>
          </a:bodyPr>
          <a:lstStyle/>
          <a:p>
            <a:pPr algn="ctr"/>
            <a:r>
              <a:rPr sz="1500" b="1">
                <a:solidFill>
                  <a:srgbClr val="EB8B36"/>
                </a:solidFill>
                <a:latin typeface="Noto Sans CJK KR"/>
              </a:rPr>
              <a:t>병목·오류
디버깅</a:t>
            </a:r>
          </a:p>
        </p:txBody>
      </p:sp>
      <p:sp>
        <p:nvSpPr>
          <p:cNvPr id="19" name="Right Arrow 18"/>
          <p:cNvSpPr/>
          <p:nvPr/>
        </p:nvSpPr>
        <p:spPr>
          <a:xfrm>
            <a:off x="7772400"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10728" y="1417320"/>
            <a:ext cx="1508760" cy="960120"/>
          </a:xfrm>
          <a:prstGeom prst="roundRect">
            <a:avLst/>
          </a:prstGeom>
          <a:solidFill>
            <a:srgbClr val="FFFFFF"/>
          </a:solidFill>
          <a:ln w="13970">
            <a:solidFill>
              <a:srgbClr val="CD4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1527048"/>
            <a:ext cx="1362456" cy="731520"/>
          </a:xfrm>
          <a:prstGeom prst="rect">
            <a:avLst/>
          </a:prstGeom>
          <a:noFill/>
        </p:spPr>
        <p:txBody>
          <a:bodyPr wrap="none" lIns="45720" rIns="45720" anchor="ctr">
            <a:spAutoFit/>
          </a:bodyPr>
          <a:lstStyle/>
          <a:p>
            <a:pPr algn="ctr"/>
            <a:r>
              <a:rPr sz="1500" b="1">
                <a:solidFill>
                  <a:srgbClr val="CD4949"/>
                </a:solidFill>
                <a:latin typeface="Noto Sans CJK KR"/>
              </a:rPr>
              <a:t>Bitstream
생성</a:t>
            </a:r>
          </a:p>
        </p:txBody>
      </p:sp>
      <p:sp>
        <p:nvSpPr>
          <p:cNvPr id="22" name="Right Arrow 21"/>
          <p:cNvSpPr/>
          <p:nvPr/>
        </p:nvSpPr>
        <p:spPr>
          <a:xfrm>
            <a:off x="9674352"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12680" y="1417320"/>
            <a:ext cx="1508760" cy="960120"/>
          </a:xfrm>
          <a:prstGeom prst="roundRect">
            <a:avLst/>
          </a:prstGeom>
          <a:solidFill>
            <a:srgbClr val="FFFFFF"/>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85832" y="1527048"/>
            <a:ext cx="1362456" cy="731520"/>
          </a:xfrm>
          <a:prstGeom prst="rect">
            <a:avLst/>
          </a:prstGeom>
          <a:noFill/>
        </p:spPr>
        <p:txBody>
          <a:bodyPr wrap="none" lIns="45720" rIns="45720" anchor="ctr">
            <a:spAutoFit/>
          </a:bodyPr>
          <a:lstStyle/>
          <a:p>
            <a:pPr algn="ctr"/>
            <a:r>
              <a:rPr sz="1500" b="1">
                <a:solidFill>
                  <a:srgbClr val="0E1F35"/>
                </a:solidFill>
                <a:latin typeface="Noto Sans CJK KR"/>
              </a:rPr>
              <a:t>KV260
Bring-up</a:t>
            </a:r>
          </a:p>
        </p:txBody>
      </p:sp>
      <p:sp>
        <p:nvSpPr>
          <p:cNvPr id="25" name="Rounded Rectangle 24"/>
          <p:cNvSpPr/>
          <p:nvPr/>
        </p:nvSpPr>
        <p:spPr>
          <a:xfrm>
            <a:off x="640080" y="2788920"/>
            <a:ext cx="5074920" cy="251460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2990088"/>
            <a:ext cx="470915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27" name="TextBox 26"/>
          <p:cNvSpPr txBox="1"/>
          <p:nvPr/>
        </p:nvSpPr>
        <p:spPr>
          <a:xfrm>
            <a:off x="868680" y="3769613"/>
            <a:ext cx="4617720" cy="411480"/>
          </a:xfrm>
          <a:prstGeom prst="rect">
            <a:avLst/>
          </a:prstGeom>
          <a:noFill/>
        </p:spPr>
        <p:txBody>
          <a:bodyPr wrap="none" lIns="45720" rIns="45720" anchor="ctr">
            <a:spAutoFit/>
          </a:bodyPr>
          <a:lstStyle/>
          <a:p>
            <a:pPr algn="ctr"/>
            <a:r>
              <a:rPr sz="1800" b="1">
                <a:solidFill>
                  <a:srgbClr val="0E1F35"/>
                </a:solidFill>
                <a:latin typeface="Noto Sans CJK KR"/>
              </a:rPr>
              <a:t>Codex 협업 화면 또는 model.6 설계도</a:t>
            </a:r>
          </a:p>
        </p:txBody>
      </p:sp>
      <p:sp>
        <p:nvSpPr>
          <p:cNvPr id="28" name="TextBox 27"/>
          <p:cNvSpPr txBox="1"/>
          <p:nvPr/>
        </p:nvSpPr>
        <p:spPr>
          <a:xfrm>
            <a:off x="960119" y="4322826"/>
            <a:ext cx="4434840" cy="628650"/>
          </a:xfrm>
          <a:prstGeom prst="rect">
            <a:avLst/>
          </a:prstGeom>
          <a:noFill/>
        </p:spPr>
        <p:txBody>
          <a:bodyPr wrap="none" lIns="45720" rIns="45720" anchor="ctr">
            <a:spAutoFit/>
          </a:bodyPr>
          <a:lstStyle/>
          <a:p>
            <a:pPr algn="ctr"/>
            <a:r>
              <a:rPr sz="1000" b="0">
                <a:solidFill>
                  <a:srgbClr val="66717C"/>
                </a:solidFill>
                <a:latin typeface="Noto Sans CJK KR"/>
              </a:rPr>
              <a:t>설계 Flow/Block Design 이미지와
Codex의 분석·명령 제안 화면을 함께 캡처</a:t>
            </a:r>
          </a:p>
        </p:txBody>
      </p:sp>
      <p:sp>
        <p:nvSpPr>
          <p:cNvPr id="29" name="Rounded Rectangle 28"/>
          <p:cNvSpPr/>
          <p:nvPr/>
        </p:nvSpPr>
        <p:spPr>
          <a:xfrm>
            <a:off x="6126480" y="2788920"/>
            <a:ext cx="5394960" cy="2514600"/>
          </a:xfrm>
          <a:prstGeom prst="round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2999232"/>
            <a:ext cx="4754880" cy="384048"/>
          </a:xfrm>
          <a:prstGeom prst="rect">
            <a:avLst/>
          </a:prstGeom>
          <a:noFill/>
        </p:spPr>
        <p:txBody>
          <a:bodyPr wrap="none" lIns="45720" rIns="45720" anchor="ctr">
            <a:spAutoFit/>
          </a:bodyPr>
          <a:lstStyle/>
          <a:p>
            <a:pPr algn="l"/>
            <a:r>
              <a:rPr sz="1900" b="1">
                <a:solidFill>
                  <a:srgbClr val="0E1F35"/>
                </a:solidFill>
                <a:latin typeface="Noto Sans CJK KR"/>
              </a:rPr>
              <a:t>나의 핵심 업무</a:t>
            </a:r>
          </a:p>
        </p:txBody>
      </p:sp>
      <p:sp>
        <p:nvSpPr>
          <p:cNvPr id="31" name="TextBox 30"/>
          <p:cNvSpPr txBox="1"/>
          <p:nvPr/>
        </p:nvSpPr>
        <p:spPr>
          <a:xfrm>
            <a:off x="6473952" y="3511296"/>
            <a:ext cx="4572000" cy="283464"/>
          </a:xfrm>
          <a:prstGeom prst="rect">
            <a:avLst/>
          </a:prstGeom>
          <a:noFill/>
        </p:spPr>
        <p:txBody>
          <a:bodyPr wrap="none" lIns="45720" rIns="45720" anchor="ctr">
            <a:spAutoFit/>
          </a:bodyPr>
          <a:lstStyle/>
          <a:p>
            <a:pPr algn="l"/>
            <a:r>
              <a:rPr sz="1100" b="0">
                <a:solidFill>
                  <a:srgbClr val="27303B"/>
                </a:solidFill>
                <a:latin typeface="Noto Sans CJK KR"/>
              </a:rPr>
              <a:t>• model.6 C2f 구조·특징맵 shape·설계 Flow 확인</a:t>
            </a:r>
          </a:p>
        </p:txBody>
      </p:sp>
      <p:sp>
        <p:nvSpPr>
          <p:cNvPr id="32" name="TextBox 31"/>
          <p:cNvSpPr txBox="1"/>
          <p:nvPr/>
        </p:nvSpPr>
        <p:spPr>
          <a:xfrm>
            <a:off x="6473952" y="3858768"/>
            <a:ext cx="4572000" cy="283464"/>
          </a:xfrm>
          <a:prstGeom prst="rect">
            <a:avLst/>
          </a:prstGeom>
          <a:noFill/>
        </p:spPr>
        <p:txBody>
          <a:bodyPr wrap="none" lIns="45720" rIns="45720" anchor="ctr">
            <a:spAutoFit/>
          </a:bodyPr>
          <a:lstStyle/>
          <a:p>
            <a:pPr algn="l"/>
            <a:r>
              <a:rPr sz="1100" b="0">
                <a:solidFill>
                  <a:srgbClr val="27303B"/>
                </a:solidFill>
                <a:latin typeface="Noto Sans CJK KR"/>
              </a:rPr>
              <a:t>• HLS IP 포트 및 AXI/DMA/Clock/Reset 연결</a:t>
            </a:r>
          </a:p>
        </p:txBody>
      </p:sp>
      <p:sp>
        <p:nvSpPr>
          <p:cNvPr id="33" name="TextBox 32"/>
          <p:cNvSpPr txBox="1"/>
          <p:nvPr/>
        </p:nvSpPr>
        <p:spPr>
          <a:xfrm>
            <a:off x="6473952" y="4206240"/>
            <a:ext cx="4572000" cy="283464"/>
          </a:xfrm>
          <a:prstGeom prst="rect">
            <a:avLst/>
          </a:prstGeom>
          <a:noFill/>
        </p:spPr>
        <p:txBody>
          <a:bodyPr wrap="none" lIns="45720" rIns="45720" anchor="ctr">
            <a:spAutoFit/>
          </a:bodyPr>
          <a:lstStyle/>
          <a:p>
            <a:pPr algn="l"/>
            <a:r>
              <a:rPr sz="1100" b="0">
                <a:solidFill>
                  <a:srgbClr val="27303B"/>
                </a:solidFill>
                <a:latin typeface="Noto Sans CJK KR"/>
              </a:rPr>
              <a:t>• Vivado 혼잡·Timing·DRC 로그 기반 반복 수정</a:t>
            </a:r>
          </a:p>
        </p:txBody>
      </p:sp>
      <p:sp>
        <p:nvSpPr>
          <p:cNvPr id="34" name="TextBox 33"/>
          <p:cNvSpPr txBox="1"/>
          <p:nvPr/>
        </p:nvSpPr>
        <p:spPr>
          <a:xfrm>
            <a:off x="6473952" y="4553712"/>
            <a:ext cx="4572000" cy="283464"/>
          </a:xfrm>
          <a:prstGeom prst="rect">
            <a:avLst/>
          </a:prstGeom>
          <a:noFill/>
        </p:spPr>
        <p:txBody>
          <a:bodyPr wrap="none" lIns="45720" rIns="45720" anchor="ctr">
            <a:spAutoFit/>
          </a:bodyPr>
          <a:lstStyle/>
          <a:p>
            <a:pPr algn="l"/>
            <a:r>
              <a:rPr sz="1100" b="0">
                <a:solidFill>
                  <a:srgbClr val="27303B"/>
                </a:solidFill>
                <a:latin typeface="Noto Sans CJK KR"/>
              </a:rPr>
              <a:t>• Vitis/XSCT 빌드·다운로드와 KV260 환경 검증</a:t>
            </a:r>
          </a:p>
        </p:txBody>
      </p:sp>
      <p:sp>
        <p:nvSpPr>
          <p:cNvPr id="35" name="TextBox 34"/>
          <p:cNvSpPr txBox="1"/>
          <p:nvPr/>
        </p:nvSpPr>
        <p:spPr>
          <a:xfrm>
            <a:off x="6473952" y="4901183"/>
            <a:ext cx="4572000" cy="283464"/>
          </a:xfrm>
          <a:prstGeom prst="rect">
            <a:avLst/>
          </a:prstGeom>
          <a:noFill/>
        </p:spPr>
        <p:txBody>
          <a:bodyPr wrap="none" lIns="45720" rIns="45720" anchor="ctr">
            <a:spAutoFit/>
          </a:bodyPr>
          <a:lstStyle/>
          <a:p>
            <a:pPr algn="l"/>
            <a:r>
              <a:rPr sz="1100" b="0">
                <a:solidFill>
                  <a:srgbClr val="27303B"/>
                </a:solidFill>
                <a:latin typeface="Noto Sans CJK KR"/>
              </a:rPr>
              <a:t>• Codex로 이미지·코드·로그·문서를 교차 분석</a:t>
            </a:r>
          </a:p>
        </p:txBody>
      </p:sp>
      <p:sp>
        <p:nvSpPr>
          <p:cNvPr id="36" name="Rounded Rectangle 35"/>
          <p:cNvSpPr/>
          <p:nvPr/>
        </p:nvSpPr>
        <p:spPr>
          <a:xfrm>
            <a:off x="640080" y="5504688"/>
            <a:ext cx="10881360" cy="71323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559552"/>
            <a:ext cx="2011680" cy="256032"/>
          </a:xfrm>
          <a:prstGeom prst="rect">
            <a:avLst/>
          </a:prstGeom>
          <a:noFill/>
        </p:spPr>
        <p:txBody>
          <a:bodyPr wrap="none" lIns="45720" rIns="45720" anchor="ctr">
            <a:spAutoFit/>
          </a:bodyPr>
          <a:lstStyle/>
          <a:p>
            <a:pPr algn="l"/>
            <a:r>
              <a:rPr sz="1200" b="1">
                <a:solidFill>
                  <a:srgbClr val="FFFFFF"/>
                </a:solidFill>
                <a:latin typeface="Noto Sans CJK KR"/>
              </a:rPr>
              <a:t>AI 협업 워크플로</a:t>
            </a:r>
          </a:p>
        </p:txBody>
      </p:sp>
      <p:sp>
        <p:nvSpPr>
          <p:cNvPr id="38" name="TextBox 37"/>
          <p:cNvSpPr txBox="1"/>
          <p:nvPr/>
        </p:nvSpPr>
        <p:spPr>
          <a:xfrm>
            <a:off x="2743200" y="5532120"/>
            <a:ext cx="8458200" cy="530352"/>
          </a:xfrm>
          <a:prstGeom prst="rect">
            <a:avLst/>
          </a:prstGeom>
          <a:noFill/>
        </p:spPr>
        <p:txBody>
          <a:bodyPr wrap="none" lIns="45720" rIns="45720" anchor="ctr">
            <a:spAutoFit/>
          </a:bodyPr>
          <a:lstStyle/>
          <a:p>
            <a:pPr algn="ctr"/>
            <a:r>
              <a:rPr sz="1100" b="1">
                <a:solidFill>
                  <a:srgbClr val="FFFFFF"/>
                </a:solidFill>
                <a:latin typeface="Noto Sans CJK KR"/>
              </a:rPr>
              <a:t>설계 이미지 + 팀 GitHub + 로컬 파일  →  Codex 분석  →  터미널 실행  →  로그 재검증·문서화</a:t>
            </a:r>
          </a:p>
        </p:txBody>
      </p:sp>
      <p:sp>
        <p:nvSpPr>
          <p:cNvPr id="39" name="TextBox 38"/>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40" name="TextBox 39"/>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Vivado Block Design — CPU와 FPGA를 하나로 연결</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PS는 YOLO 전·후단, PL은 model.6, DMA는 특징맵 전송을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097280"/>
            <a:ext cx="7498079" cy="507492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98448"/>
            <a:ext cx="713231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0" name="TextBox 9"/>
          <p:cNvSpPr txBox="1"/>
          <p:nvPr/>
        </p:nvSpPr>
        <p:spPr>
          <a:xfrm>
            <a:off x="640080" y="3076498"/>
            <a:ext cx="7040879" cy="411480"/>
          </a:xfrm>
          <a:prstGeom prst="rect">
            <a:avLst/>
          </a:prstGeom>
          <a:noFill/>
        </p:spPr>
        <p:txBody>
          <a:bodyPr wrap="none" lIns="45720" rIns="45720" anchor="ctr">
            <a:spAutoFit/>
          </a:bodyPr>
          <a:lstStyle/>
          <a:p>
            <a:pPr algn="ctr"/>
            <a:r>
              <a:rPr sz="1800" b="1">
                <a:solidFill>
                  <a:srgbClr val="0E1F35"/>
                </a:solidFill>
                <a:latin typeface="Noto Sans CJK KR"/>
              </a:rPr>
              <a:t>Vivado 최종 Block Design 전체</a:t>
            </a:r>
          </a:p>
        </p:txBody>
      </p:sp>
      <p:sp>
        <p:nvSpPr>
          <p:cNvPr id="11" name="TextBox 10"/>
          <p:cNvSpPr txBox="1"/>
          <p:nvPr/>
        </p:nvSpPr>
        <p:spPr>
          <a:xfrm>
            <a:off x="731520" y="4192981"/>
            <a:ext cx="6857999" cy="1268730"/>
          </a:xfrm>
          <a:prstGeom prst="rect">
            <a:avLst/>
          </a:prstGeom>
          <a:noFill/>
        </p:spPr>
        <p:txBody>
          <a:bodyPr wrap="none" lIns="45720" rIns="45720" anchor="ctr">
            <a:spAutoFit/>
          </a:bodyPr>
          <a:lstStyle/>
          <a:p>
            <a:pPr algn="ctr"/>
            <a:r>
              <a:rPr sz="1000" b="0">
                <a:solidFill>
                  <a:srgbClr val="66717C"/>
                </a:solidFill>
                <a:latin typeface="Noto Sans CJK KR"/>
              </a:rPr>
              <a:t>PS·AXI DMA·model.6 IP·Clock/Reset이
모두 보이게 Zoom to Fit로 캡처</a:t>
            </a:r>
          </a:p>
        </p:txBody>
      </p:sp>
      <p:sp>
        <p:nvSpPr>
          <p:cNvPr id="12" name="Rounded Rectangle 11"/>
          <p:cNvSpPr/>
          <p:nvPr/>
        </p:nvSpPr>
        <p:spPr>
          <a:xfrm>
            <a:off x="8183879" y="1097280"/>
            <a:ext cx="3566160" cy="1097280"/>
          </a:xfrm>
          <a:prstGeom prst="roundRect">
            <a:avLst/>
          </a:prstGeom>
          <a:solidFill>
            <a:srgbClr val="F2F6FA"/>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234440"/>
            <a:ext cx="3200400" cy="292608"/>
          </a:xfrm>
          <a:prstGeom prst="rect">
            <a:avLst/>
          </a:prstGeom>
          <a:noFill/>
        </p:spPr>
        <p:txBody>
          <a:bodyPr wrap="none" lIns="45720" rIns="45720" anchor="ctr">
            <a:spAutoFit/>
          </a:bodyPr>
          <a:lstStyle/>
          <a:p>
            <a:pPr algn="l"/>
            <a:r>
              <a:rPr sz="1500" b="1">
                <a:solidFill>
                  <a:srgbClr val="236CB4"/>
                </a:solidFill>
                <a:latin typeface="Noto Sans CJK KR"/>
              </a:rPr>
              <a:t>PS (ARM CPU + DDR)</a:t>
            </a:r>
          </a:p>
        </p:txBody>
      </p:sp>
      <p:sp>
        <p:nvSpPr>
          <p:cNvPr id="14" name="TextBox 13"/>
          <p:cNvSpPr txBox="1"/>
          <p:nvPr/>
        </p:nvSpPr>
        <p:spPr>
          <a:xfrm>
            <a:off x="8366760" y="1609344"/>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model.0~5 / cv2+7~22 실행</a:t>
            </a:r>
          </a:p>
        </p:txBody>
      </p:sp>
      <p:sp>
        <p:nvSpPr>
          <p:cNvPr id="15" name="Rounded Rectangle 14"/>
          <p:cNvSpPr/>
          <p:nvPr/>
        </p:nvSpPr>
        <p:spPr>
          <a:xfrm>
            <a:off x="8183879" y="2395728"/>
            <a:ext cx="3566160" cy="1097280"/>
          </a:xfrm>
          <a:prstGeom prst="roundRect">
            <a:avLst/>
          </a:prstGeom>
          <a:solidFill>
            <a:srgbClr val="F2F6FA"/>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542032"/>
            <a:ext cx="3200400" cy="292608"/>
          </a:xfrm>
          <a:prstGeom prst="rect">
            <a:avLst/>
          </a:prstGeom>
          <a:noFill/>
        </p:spPr>
        <p:txBody>
          <a:bodyPr wrap="none" lIns="45720" rIns="45720" anchor="ctr">
            <a:spAutoFit/>
          </a:bodyPr>
          <a:lstStyle/>
          <a:p>
            <a:pPr algn="l"/>
            <a:r>
              <a:rPr sz="1500" b="1">
                <a:solidFill>
                  <a:srgbClr val="EB8B36"/>
                </a:solidFill>
                <a:latin typeface="Noto Sans CJK KR"/>
              </a:rPr>
              <a:t>AXI DMA</a:t>
            </a:r>
          </a:p>
        </p:txBody>
      </p:sp>
      <p:sp>
        <p:nvSpPr>
          <p:cNvPr id="17" name="TextBox 16"/>
          <p:cNvSpPr txBox="1"/>
          <p:nvPr/>
        </p:nvSpPr>
        <p:spPr>
          <a:xfrm>
            <a:off x="8366760" y="2907792"/>
            <a:ext cx="3154680" cy="347472"/>
          </a:xfrm>
          <a:prstGeom prst="rect">
            <a:avLst/>
          </a:prstGeom>
          <a:noFill/>
        </p:spPr>
        <p:txBody>
          <a:bodyPr wrap="none" lIns="45720" rIns="45720" anchor="ctr">
            <a:spAutoFit/>
          </a:bodyPr>
          <a:lstStyle/>
          <a:p>
            <a:pPr algn="l"/>
            <a:r>
              <a:rPr sz="1100" b="0">
                <a:solidFill>
                  <a:srgbClr val="27303B"/>
                </a:solidFill>
                <a:latin typeface="Noto Sans CJK KR"/>
              </a:rPr>
              <a:t>DDR ↔ FPGA 특징맵 전송</a:t>
            </a:r>
          </a:p>
        </p:txBody>
      </p:sp>
      <p:sp>
        <p:nvSpPr>
          <p:cNvPr id="18" name="Rounded Rectangle 17"/>
          <p:cNvSpPr/>
          <p:nvPr/>
        </p:nvSpPr>
        <p:spPr>
          <a:xfrm>
            <a:off x="8183879" y="3694176"/>
            <a:ext cx="3566160" cy="1097280"/>
          </a:xfrm>
          <a:prstGeom prst="roundRect">
            <a:avLst/>
          </a:prstGeom>
          <a:solidFill>
            <a:srgbClr val="F2F6FA"/>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840480"/>
            <a:ext cx="3200400" cy="292608"/>
          </a:xfrm>
          <a:prstGeom prst="rect">
            <a:avLst/>
          </a:prstGeom>
          <a:noFill/>
        </p:spPr>
        <p:txBody>
          <a:bodyPr wrap="none" lIns="45720" rIns="45720" anchor="ctr">
            <a:spAutoFit/>
          </a:bodyPr>
          <a:lstStyle/>
          <a:p>
            <a:pPr algn="l"/>
            <a:r>
              <a:rPr sz="1500" b="1">
                <a:solidFill>
                  <a:srgbClr val="329C69"/>
                </a:solidFill>
                <a:latin typeface="Noto Sans CJK KR"/>
              </a:rPr>
              <a:t>PL (FPGA Logic)</a:t>
            </a:r>
          </a:p>
        </p:txBody>
      </p:sp>
      <p:sp>
        <p:nvSpPr>
          <p:cNvPr id="20" name="TextBox 19"/>
          <p:cNvSpPr txBox="1"/>
          <p:nvPr/>
        </p:nvSpPr>
        <p:spPr>
          <a:xfrm>
            <a:off x="8366760" y="4206240"/>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model.6 cv1~Concat 실행</a:t>
            </a:r>
          </a:p>
        </p:txBody>
      </p:sp>
      <p:sp>
        <p:nvSpPr>
          <p:cNvPr id="21" name="Rounded Rectangle 20"/>
          <p:cNvSpPr/>
          <p:nvPr/>
        </p:nvSpPr>
        <p:spPr>
          <a:xfrm>
            <a:off x="8183879" y="5010912"/>
            <a:ext cx="3566160" cy="1161288"/>
          </a:xfrm>
          <a:prstGeom prst="round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39327" y="5193792"/>
            <a:ext cx="96012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5048" y="51937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AXI-Lite</a:t>
            </a:r>
          </a:p>
        </p:txBody>
      </p:sp>
      <p:sp>
        <p:nvSpPr>
          <p:cNvPr id="24" name="TextBox 23"/>
          <p:cNvSpPr txBox="1"/>
          <p:nvPr/>
        </p:nvSpPr>
        <p:spPr>
          <a:xfrm>
            <a:off x="9400032" y="5193792"/>
            <a:ext cx="2057400" cy="411480"/>
          </a:xfrm>
          <a:prstGeom prst="rect">
            <a:avLst/>
          </a:prstGeom>
          <a:noFill/>
        </p:spPr>
        <p:txBody>
          <a:bodyPr wrap="none" lIns="45720" rIns="45720" anchor="ctr">
            <a:spAutoFit/>
          </a:bodyPr>
          <a:lstStyle/>
          <a:p>
            <a:pPr algn="l"/>
            <a:r>
              <a:rPr sz="1000" b="0">
                <a:solidFill>
                  <a:srgbClr val="27303B"/>
                </a:solidFill>
                <a:latin typeface="Noto Sans CJK KR"/>
              </a:rPr>
              <a:t>제어·스케일</a:t>
            </a:r>
          </a:p>
        </p:txBody>
      </p:sp>
      <p:sp>
        <p:nvSpPr>
          <p:cNvPr id="25" name="Rounded Rectangle 24"/>
          <p:cNvSpPr/>
          <p:nvPr/>
        </p:nvSpPr>
        <p:spPr>
          <a:xfrm>
            <a:off x="8339327" y="5650992"/>
            <a:ext cx="96012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85048" y="56509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Stream</a:t>
            </a:r>
          </a:p>
        </p:txBody>
      </p:sp>
      <p:sp>
        <p:nvSpPr>
          <p:cNvPr id="27" name="TextBox 26"/>
          <p:cNvSpPr txBox="1"/>
          <p:nvPr/>
        </p:nvSpPr>
        <p:spPr>
          <a:xfrm>
            <a:off x="9400032" y="5650992"/>
            <a:ext cx="2057400" cy="411480"/>
          </a:xfrm>
          <a:prstGeom prst="rect">
            <a:avLst/>
          </a:prstGeom>
          <a:noFill/>
        </p:spPr>
        <p:txBody>
          <a:bodyPr wrap="none" lIns="45720" rIns="45720" anchor="ctr">
            <a:spAutoFit/>
          </a:bodyPr>
          <a:lstStyle/>
          <a:p>
            <a:pPr algn="l"/>
            <a:r>
              <a:rPr sz="1000" b="0">
                <a:solidFill>
                  <a:srgbClr val="27303B"/>
                </a:solidFill>
                <a:latin typeface="Noto Sans CJK KR"/>
              </a:rPr>
              <a:t>IP 간 연속 데이터</a:t>
            </a:r>
          </a:p>
        </p:txBody>
      </p:sp>
      <p:sp>
        <p:nvSpPr>
          <p:cNvPr id="28" name="TextBox 2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9" name="TextBox 2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구현 과정의 핵심 문제와 해결</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로그와 경계 데이터를 기준으로 원인을 하나씩 제거</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143000"/>
            <a:ext cx="2971800" cy="411480"/>
          </a:xfrm>
          <a:prstGeom prst="roundRect">
            <a:avLst/>
          </a:prstGeom>
          <a:solidFill>
            <a:srgbClr val="CD494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143000"/>
            <a:ext cx="2880360" cy="411480"/>
          </a:xfrm>
          <a:prstGeom prst="rect">
            <a:avLst/>
          </a:prstGeom>
          <a:noFill/>
        </p:spPr>
        <p:txBody>
          <a:bodyPr wrap="none" lIns="45720" rIns="45720" anchor="ctr">
            <a:spAutoFit/>
          </a:bodyPr>
          <a:lstStyle/>
          <a:p>
            <a:pPr algn="ctr"/>
            <a:r>
              <a:rPr sz="1100" b="1">
                <a:solidFill>
                  <a:srgbClr val="FFFFFF"/>
                </a:solidFill>
                <a:latin typeface="Noto Sans CJK KR"/>
              </a:rPr>
              <a:t>문제</a:t>
            </a:r>
          </a:p>
        </p:txBody>
      </p:sp>
      <p:sp>
        <p:nvSpPr>
          <p:cNvPr id="10" name="Rounded Rectangle 9"/>
          <p:cNvSpPr/>
          <p:nvPr/>
        </p:nvSpPr>
        <p:spPr>
          <a:xfrm>
            <a:off x="3794760" y="1143000"/>
            <a:ext cx="34290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1143000"/>
            <a:ext cx="3337560" cy="411480"/>
          </a:xfrm>
          <a:prstGeom prst="rect">
            <a:avLst/>
          </a:prstGeom>
          <a:noFill/>
        </p:spPr>
        <p:txBody>
          <a:bodyPr wrap="none" lIns="45720" rIns="45720" anchor="ctr">
            <a:spAutoFit/>
          </a:bodyPr>
          <a:lstStyle/>
          <a:p>
            <a:pPr algn="ctr"/>
            <a:r>
              <a:rPr sz="1100" b="1">
                <a:solidFill>
                  <a:srgbClr val="FFFFFF"/>
                </a:solidFill>
                <a:latin typeface="Noto Sans CJK KR"/>
              </a:rPr>
              <a:t>직접 원인</a:t>
            </a:r>
          </a:p>
        </p:txBody>
      </p:sp>
      <p:sp>
        <p:nvSpPr>
          <p:cNvPr id="12" name="Rounded Rectangle 11"/>
          <p:cNvSpPr/>
          <p:nvPr/>
        </p:nvSpPr>
        <p:spPr>
          <a:xfrm>
            <a:off x="7543800" y="1143000"/>
            <a:ext cx="416052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143000"/>
            <a:ext cx="4069080" cy="411480"/>
          </a:xfrm>
          <a:prstGeom prst="rect">
            <a:avLst/>
          </a:prstGeom>
          <a:noFill/>
        </p:spPr>
        <p:txBody>
          <a:bodyPr wrap="none" lIns="45720" rIns="45720" anchor="ctr">
            <a:spAutoFit/>
          </a:bodyPr>
          <a:lstStyle/>
          <a:p>
            <a:pPr algn="ctr"/>
            <a:r>
              <a:rPr sz="1100" b="1">
                <a:solidFill>
                  <a:srgbClr val="FFFFFF"/>
                </a:solidFill>
                <a:latin typeface="Noto Sans CJK KR"/>
              </a:rPr>
              <a:t>해결</a:t>
            </a:r>
          </a:p>
        </p:txBody>
      </p:sp>
      <p:sp>
        <p:nvSpPr>
          <p:cNvPr id="14" name="Rectangle 13"/>
          <p:cNvSpPr/>
          <p:nvPr/>
        </p:nvSpPr>
        <p:spPr>
          <a:xfrm>
            <a:off x="502920" y="1719072"/>
            <a:ext cx="29718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1792224"/>
            <a:ext cx="2679192" cy="786384"/>
          </a:xfrm>
          <a:prstGeom prst="rect">
            <a:avLst/>
          </a:prstGeom>
          <a:noFill/>
        </p:spPr>
        <p:txBody>
          <a:bodyPr wrap="none" lIns="45720" rIns="45720" anchor="ctr">
            <a:spAutoFit/>
          </a:bodyPr>
          <a:lstStyle/>
          <a:p>
            <a:pPr algn="ctr"/>
            <a:r>
              <a:rPr sz="1200" b="1">
                <a:solidFill>
                  <a:srgbClr val="27303B"/>
                </a:solidFill>
                <a:latin typeface="Noto Sans CJK KR"/>
              </a:rPr>
              <a:t>Vivado 배치 실패</a:t>
            </a:r>
          </a:p>
        </p:txBody>
      </p:sp>
      <p:sp>
        <p:nvSpPr>
          <p:cNvPr id="16" name="Rectangle 15"/>
          <p:cNvSpPr/>
          <p:nvPr/>
        </p:nvSpPr>
        <p:spPr>
          <a:xfrm>
            <a:off x="3794760" y="1719072"/>
            <a:ext cx="34290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1064" y="1792224"/>
            <a:ext cx="3136392" cy="786384"/>
          </a:xfrm>
          <a:prstGeom prst="rect">
            <a:avLst/>
          </a:prstGeom>
          <a:noFill/>
        </p:spPr>
        <p:txBody>
          <a:bodyPr wrap="none" lIns="45720" rIns="45720" anchor="ctr">
            <a:spAutoFit/>
          </a:bodyPr>
          <a:lstStyle/>
          <a:p>
            <a:pPr algn="ctr"/>
            <a:r>
              <a:rPr sz="1200" b="0">
                <a:solidFill>
                  <a:srgbClr val="27303B"/>
                </a:solidFill>
                <a:latin typeface="Noto Sans CJK KR"/>
              </a:rPr>
              <a:t>cv2 포함 시 LUT 91%
Control Set 파편화</a:t>
            </a:r>
          </a:p>
        </p:txBody>
      </p:sp>
      <p:sp>
        <p:nvSpPr>
          <p:cNvPr id="18" name="Rectangle 17"/>
          <p:cNvSpPr/>
          <p:nvPr/>
        </p:nvSpPr>
        <p:spPr>
          <a:xfrm>
            <a:off x="7543800" y="1719072"/>
            <a:ext cx="416052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90104" y="1792224"/>
            <a:ext cx="3867911" cy="786384"/>
          </a:xfrm>
          <a:prstGeom prst="rect">
            <a:avLst/>
          </a:prstGeom>
          <a:noFill/>
        </p:spPr>
        <p:txBody>
          <a:bodyPr wrap="none" lIns="45720" rIns="45720" anchor="ctr">
            <a:spAutoFit/>
          </a:bodyPr>
          <a:lstStyle/>
          <a:p>
            <a:pPr algn="ctr"/>
            <a:r>
              <a:rPr sz="1200" b="0">
                <a:solidFill>
                  <a:srgbClr val="27303B"/>
                </a:solidFill>
                <a:latin typeface="Noto Sans CJK KR"/>
              </a:rPr>
              <a:t>cv2를 CPU로 이전
LUT 91% → 56%</a:t>
            </a:r>
          </a:p>
        </p:txBody>
      </p:sp>
      <p:sp>
        <p:nvSpPr>
          <p:cNvPr id="20" name="Rectangle 19"/>
          <p:cNvSpPr/>
          <p:nvPr/>
        </p:nvSpPr>
        <p:spPr>
          <a:xfrm>
            <a:off x="502920" y="2752344"/>
            <a:ext cx="29718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825496"/>
            <a:ext cx="2679192" cy="786384"/>
          </a:xfrm>
          <a:prstGeom prst="rect">
            <a:avLst/>
          </a:prstGeom>
          <a:noFill/>
        </p:spPr>
        <p:txBody>
          <a:bodyPr wrap="none" lIns="45720" rIns="45720" anchor="ctr">
            <a:spAutoFit/>
          </a:bodyPr>
          <a:lstStyle/>
          <a:p>
            <a:pPr algn="ctr"/>
            <a:r>
              <a:rPr sz="1200" b="0">
                <a:solidFill>
                  <a:srgbClr val="27303B"/>
                </a:solidFill>
                <a:latin typeface="Noto Sans CJK KR"/>
              </a:rPr>
              <a:t>DMA 출력 전송 실패</a:t>
            </a:r>
          </a:p>
        </p:txBody>
      </p:sp>
      <p:sp>
        <p:nvSpPr>
          <p:cNvPr id="22" name="Rectangle 21"/>
          <p:cNvSpPr/>
          <p:nvPr/>
        </p:nvSpPr>
        <p:spPr>
          <a:xfrm>
            <a:off x="3794760" y="2752344"/>
            <a:ext cx="34290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41064" y="2825496"/>
            <a:ext cx="3136392" cy="786384"/>
          </a:xfrm>
          <a:prstGeom prst="rect">
            <a:avLst/>
          </a:prstGeom>
          <a:noFill/>
        </p:spPr>
        <p:txBody>
          <a:bodyPr wrap="none" lIns="45720" rIns="45720" anchor="ctr">
            <a:spAutoFit/>
          </a:bodyPr>
          <a:lstStyle/>
          <a:p>
            <a:pPr algn="ctr"/>
            <a:r>
              <a:rPr sz="1200" b="0">
                <a:solidFill>
                  <a:srgbClr val="27303B"/>
                </a:solidFill>
                <a:latin typeface="Noto Sans CJK KR"/>
              </a:rPr>
              <a:t>409,600B보다 작은
기본 전송 길이</a:t>
            </a:r>
          </a:p>
        </p:txBody>
      </p:sp>
      <p:sp>
        <p:nvSpPr>
          <p:cNvPr id="24" name="Rectangle 23"/>
          <p:cNvSpPr/>
          <p:nvPr/>
        </p:nvSpPr>
        <p:spPr>
          <a:xfrm>
            <a:off x="7543800" y="2752344"/>
            <a:ext cx="416052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90104" y="2825496"/>
            <a:ext cx="3867911" cy="786384"/>
          </a:xfrm>
          <a:prstGeom prst="rect">
            <a:avLst/>
          </a:prstGeom>
          <a:noFill/>
        </p:spPr>
        <p:txBody>
          <a:bodyPr wrap="none" lIns="45720" rIns="45720" anchor="ctr">
            <a:spAutoFit/>
          </a:bodyPr>
          <a:lstStyle/>
          <a:p>
            <a:pPr algn="ctr"/>
            <a:r>
              <a:rPr sz="1200" b="0">
                <a:solidFill>
                  <a:srgbClr val="27303B"/>
                </a:solidFill>
                <a:latin typeface="Noto Sans CJK KR"/>
              </a:rPr>
              <a:t>DMA length width
14 → 26bit</a:t>
            </a:r>
          </a:p>
        </p:txBody>
      </p:sp>
      <p:sp>
        <p:nvSpPr>
          <p:cNvPr id="26" name="Rectangle 25"/>
          <p:cNvSpPr/>
          <p:nvPr/>
        </p:nvSpPr>
        <p:spPr>
          <a:xfrm>
            <a:off x="502920" y="3785615"/>
            <a:ext cx="29718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3858768"/>
            <a:ext cx="2679192" cy="786384"/>
          </a:xfrm>
          <a:prstGeom prst="rect">
            <a:avLst/>
          </a:prstGeom>
          <a:noFill/>
        </p:spPr>
        <p:txBody>
          <a:bodyPr wrap="none" lIns="45720" rIns="45720" anchor="ctr">
            <a:spAutoFit/>
          </a:bodyPr>
          <a:lstStyle/>
          <a:p>
            <a:pPr algn="ctr"/>
            <a:r>
              <a:rPr sz="1200" b="0">
                <a:solidFill>
                  <a:srgbClr val="27303B"/>
                </a:solidFill>
                <a:latin typeface="Noto Sans CJK KR"/>
              </a:rPr>
              <a:t>탐지 결과 붕괴</a:t>
            </a:r>
          </a:p>
        </p:txBody>
      </p:sp>
      <p:sp>
        <p:nvSpPr>
          <p:cNvPr id="28" name="Rectangle 27"/>
          <p:cNvSpPr/>
          <p:nvPr/>
        </p:nvSpPr>
        <p:spPr>
          <a:xfrm>
            <a:off x="3794760" y="3785615"/>
            <a:ext cx="34290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41064" y="3858768"/>
            <a:ext cx="3136392" cy="786384"/>
          </a:xfrm>
          <a:prstGeom prst="rect">
            <a:avLst/>
          </a:prstGeom>
          <a:noFill/>
        </p:spPr>
        <p:txBody>
          <a:bodyPr wrap="none" lIns="45720" rIns="45720" anchor="ctr">
            <a:spAutoFit/>
          </a:bodyPr>
          <a:lstStyle/>
          <a:p>
            <a:pPr algn="ctr"/>
            <a:r>
              <a:rPr sz="1200" b="0">
                <a:solidFill>
                  <a:srgbClr val="27303B"/>
                </a:solidFill>
                <a:latin typeface="Noto Sans CJK KR"/>
              </a:rPr>
              <a:t>CHW/HWC 특징맵
배열 해석 불일치</a:t>
            </a:r>
          </a:p>
        </p:txBody>
      </p:sp>
      <p:sp>
        <p:nvSpPr>
          <p:cNvPr id="30" name="Rectangle 29"/>
          <p:cNvSpPr/>
          <p:nvPr/>
        </p:nvSpPr>
        <p:spPr>
          <a:xfrm>
            <a:off x="7543800" y="3785615"/>
            <a:ext cx="416052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90104" y="3858768"/>
            <a:ext cx="3867911" cy="786384"/>
          </a:xfrm>
          <a:prstGeom prst="rect">
            <a:avLst/>
          </a:prstGeom>
          <a:noFill/>
        </p:spPr>
        <p:txBody>
          <a:bodyPr wrap="none" lIns="45720" rIns="45720" anchor="ctr">
            <a:spAutoFit/>
          </a:bodyPr>
          <a:lstStyle/>
          <a:p>
            <a:pPr algn="ctr"/>
            <a:r>
              <a:rPr sz="1200" b="0">
                <a:solidFill>
                  <a:srgbClr val="27303B"/>
                </a:solidFill>
                <a:latin typeface="Noto Sans CJK KR"/>
              </a:rPr>
              <a:t>FPGA 경계를
HWC로 통일</a:t>
            </a:r>
          </a:p>
        </p:txBody>
      </p:sp>
      <p:sp>
        <p:nvSpPr>
          <p:cNvPr id="32" name="Rectangle 31"/>
          <p:cNvSpPr/>
          <p:nvPr/>
        </p:nvSpPr>
        <p:spPr>
          <a:xfrm>
            <a:off x="502920" y="4818888"/>
            <a:ext cx="29718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 y="4892040"/>
            <a:ext cx="2679192" cy="786384"/>
          </a:xfrm>
          <a:prstGeom prst="rect">
            <a:avLst/>
          </a:prstGeom>
          <a:noFill/>
        </p:spPr>
        <p:txBody>
          <a:bodyPr wrap="none" lIns="45720" rIns="45720" anchor="ctr">
            <a:spAutoFit/>
          </a:bodyPr>
          <a:lstStyle/>
          <a:p>
            <a:pPr algn="ctr"/>
            <a:r>
              <a:rPr sz="1200" b="0">
                <a:solidFill>
                  <a:srgbClr val="27303B"/>
                </a:solidFill>
                <a:latin typeface="Noto Sans CJK KR"/>
              </a:rPr>
              <a:t>반복 프레임 오류</a:t>
            </a:r>
          </a:p>
        </p:txBody>
      </p:sp>
      <p:sp>
        <p:nvSpPr>
          <p:cNvPr id="34" name="Rectangle 33"/>
          <p:cNvSpPr/>
          <p:nvPr/>
        </p:nvSpPr>
        <p:spPr>
          <a:xfrm>
            <a:off x="3794760" y="4818888"/>
            <a:ext cx="34290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41064" y="4892040"/>
            <a:ext cx="3136392" cy="786384"/>
          </a:xfrm>
          <a:prstGeom prst="rect">
            <a:avLst/>
          </a:prstGeom>
          <a:noFill/>
        </p:spPr>
        <p:txBody>
          <a:bodyPr wrap="none" lIns="45720" rIns="45720" anchor="ctr">
            <a:spAutoFit/>
          </a:bodyPr>
          <a:lstStyle/>
          <a:p>
            <a:pPr algn="ctr"/>
            <a:r>
              <a:rPr sz="1200" b="0">
                <a:solidFill>
                  <a:srgbClr val="27303B"/>
                </a:solidFill>
                <a:latin typeface="Noto Sans CJK KR"/>
              </a:rPr>
              <a:t>BN 파라미터 슬롯과
내부 호출 순서 불일치</a:t>
            </a:r>
          </a:p>
        </p:txBody>
      </p:sp>
      <p:sp>
        <p:nvSpPr>
          <p:cNvPr id="36" name="Rectangle 35"/>
          <p:cNvSpPr/>
          <p:nvPr/>
        </p:nvSpPr>
        <p:spPr>
          <a:xfrm>
            <a:off x="7543800" y="4818888"/>
            <a:ext cx="416052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90104" y="4892040"/>
            <a:ext cx="3867911" cy="786384"/>
          </a:xfrm>
          <a:prstGeom prst="rect">
            <a:avLst/>
          </a:prstGeom>
          <a:noFill/>
        </p:spPr>
        <p:txBody>
          <a:bodyPr wrap="none" lIns="45720" rIns="45720" anchor="ctr">
            <a:spAutoFit/>
          </a:bodyPr>
          <a:lstStyle/>
          <a:p>
            <a:pPr algn="ctr"/>
            <a:r>
              <a:rPr sz="1200" b="0">
                <a:solidFill>
                  <a:srgbClr val="27303B"/>
                </a:solidFill>
                <a:latin typeface="Noto Sans CJK KR"/>
              </a:rPr>
              <a:t>슬롯 배치 수정
12프레임 연속 검증</a:t>
            </a:r>
          </a:p>
        </p:txBody>
      </p:sp>
      <p:sp>
        <p:nvSpPr>
          <p:cNvPr id="38" name="Rounded Rectangle 37"/>
          <p:cNvSpPr/>
          <p:nvPr/>
        </p:nvSpPr>
        <p:spPr>
          <a:xfrm>
            <a:off x="502920" y="5925312"/>
            <a:ext cx="11201400" cy="429768"/>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925312"/>
            <a:ext cx="10927080" cy="429768"/>
          </a:xfrm>
          <a:prstGeom prst="rect">
            <a:avLst/>
          </a:prstGeom>
          <a:noFill/>
        </p:spPr>
        <p:txBody>
          <a:bodyPr wrap="none" lIns="45720" rIns="45720" anchor="ctr">
            <a:spAutoFit/>
          </a:bodyPr>
          <a:lstStyle/>
          <a:p>
            <a:pPr algn="ctr"/>
            <a:r>
              <a:rPr sz="1200" b="1">
                <a:solidFill>
                  <a:srgbClr val="FFFFFF"/>
                </a:solidFill>
                <a:latin typeface="Noto Sans CJK KR"/>
              </a:rPr>
              <a:t>핵심 교훈  |  IP 단품 성공 ≠ 전체 시스템 성공   →   자원·주소·배열·전송을 함께 검증</a:t>
            </a:r>
          </a:p>
        </p:txBody>
      </p:sp>
      <p:sp>
        <p:nvSpPr>
          <p:cNvPr id="40" name="TextBox 39"/>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41" name="TextBox 40"/>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실제 개발 기록 — Vivado에서 Vitis/XSCT까지</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Timing·DRC·Bitstream을 확인한 뒤 KV260에 하드웨어와 ELF를 다운로드</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ivado_terminal.png"/>
          <p:cNvPicPr>
            <a:picLocks noChangeAspect="1"/>
          </p:cNvPicPr>
          <p:nvPr/>
        </p:nvPicPr>
        <p:blipFill>
          <a:blip r:embed="rId2"/>
          <a:stretch>
            <a:fillRect/>
          </a:stretch>
        </p:blipFill>
        <p:spPr>
          <a:xfrm>
            <a:off x="411480" y="1115568"/>
            <a:ext cx="5577840" cy="4526280"/>
          </a:xfrm>
          <a:prstGeom prst="rect">
            <a:avLst/>
          </a:prstGeom>
        </p:spPr>
      </p:pic>
      <p:pic>
        <p:nvPicPr>
          <p:cNvPr id="9" name="Picture 8" descr="vitis_terminal.png"/>
          <p:cNvPicPr>
            <a:picLocks noChangeAspect="1"/>
          </p:cNvPicPr>
          <p:nvPr/>
        </p:nvPicPr>
        <p:blipFill>
          <a:blip r:embed="rId3"/>
          <a:stretch>
            <a:fillRect/>
          </a:stretch>
        </p:blipFill>
        <p:spPr>
          <a:xfrm>
            <a:off x="6199632" y="1115568"/>
            <a:ext cx="5577840" cy="4526280"/>
          </a:xfrm>
          <a:prstGeom prst="rect">
            <a:avLst/>
          </a:prstGeom>
        </p:spPr>
      </p:pic>
      <p:sp>
        <p:nvSpPr>
          <p:cNvPr id="10" name="Rounded Rectangle 9"/>
          <p:cNvSpPr/>
          <p:nvPr/>
        </p:nvSpPr>
        <p:spPr>
          <a:xfrm>
            <a:off x="658368" y="5806440"/>
            <a:ext cx="265176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5806440"/>
            <a:ext cx="2560320" cy="411480"/>
          </a:xfrm>
          <a:prstGeom prst="rect">
            <a:avLst/>
          </a:prstGeom>
          <a:noFill/>
        </p:spPr>
        <p:txBody>
          <a:bodyPr wrap="none" lIns="45720" rIns="45720" anchor="ctr">
            <a:spAutoFit/>
          </a:bodyPr>
          <a:lstStyle/>
          <a:p>
            <a:pPr algn="ctr"/>
            <a:r>
              <a:rPr sz="1100" b="1">
                <a:solidFill>
                  <a:srgbClr val="FFFFFF"/>
                </a:solidFill>
                <a:latin typeface="Noto Sans CJK KR"/>
              </a:rPr>
              <a:t>Vivado  |  WNS +0.220 ns</a:t>
            </a:r>
          </a:p>
        </p:txBody>
      </p:sp>
      <p:sp>
        <p:nvSpPr>
          <p:cNvPr id="12" name="Rounded Rectangle 11"/>
          <p:cNvSpPr/>
          <p:nvPr/>
        </p:nvSpPr>
        <p:spPr>
          <a:xfrm>
            <a:off x="3502152" y="5806440"/>
            <a:ext cx="224028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5806440"/>
            <a:ext cx="2148840" cy="411480"/>
          </a:xfrm>
          <a:prstGeom prst="rect">
            <a:avLst/>
          </a:prstGeom>
          <a:noFill/>
        </p:spPr>
        <p:txBody>
          <a:bodyPr wrap="none" lIns="45720" rIns="45720" anchor="ctr">
            <a:spAutoFit/>
          </a:bodyPr>
          <a:lstStyle/>
          <a:p>
            <a:pPr algn="ctr"/>
            <a:r>
              <a:rPr sz="1100" b="1">
                <a:solidFill>
                  <a:srgbClr val="FFFFFF"/>
                </a:solidFill>
                <a:latin typeface="Noto Sans CJK KR"/>
              </a:rPr>
              <a:t>DRC Error 0</a:t>
            </a:r>
          </a:p>
        </p:txBody>
      </p:sp>
      <p:sp>
        <p:nvSpPr>
          <p:cNvPr id="14" name="Rounded Rectangle 13"/>
          <p:cNvSpPr/>
          <p:nvPr/>
        </p:nvSpPr>
        <p:spPr>
          <a:xfrm>
            <a:off x="6446520" y="5806440"/>
            <a:ext cx="237744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5806440"/>
            <a:ext cx="2286000" cy="411480"/>
          </a:xfrm>
          <a:prstGeom prst="rect">
            <a:avLst/>
          </a:prstGeom>
          <a:noFill/>
        </p:spPr>
        <p:txBody>
          <a:bodyPr wrap="none" lIns="45720" rIns="45720" anchor="ctr">
            <a:spAutoFit/>
          </a:bodyPr>
          <a:lstStyle/>
          <a:p>
            <a:pPr algn="ctr"/>
            <a:r>
              <a:rPr sz="1100" b="1">
                <a:solidFill>
                  <a:srgbClr val="FFFFFF"/>
                </a:solidFill>
                <a:latin typeface="Noto Sans CJK KR"/>
              </a:rPr>
              <a:t>Vitis  |  ELF Build</a:t>
            </a:r>
          </a:p>
        </p:txBody>
      </p:sp>
      <p:sp>
        <p:nvSpPr>
          <p:cNvPr id="16" name="Rounded Rectangle 15"/>
          <p:cNvSpPr/>
          <p:nvPr/>
        </p:nvSpPr>
        <p:spPr>
          <a:xfrm>
            <a:off x="9015984" y="5806440"/>
            <a:ext cx="2487168" cy="411480"/>
          </a:xfrm>
          <a:prstGeom prst="roundRect">
            <a:avLst/>
          </a:prstGeom>
          <a:solidFill>
            <a:srgbClr val="0E1F35"/>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704" y="5806440"/>
            <a:ext cx="2395728" cy="411480"/>
          </a:xfrm>
          <a:prstGeom prst="rect">
            <a:avLst/>
          </a:prstGeom>
          <a:noFill/>
        </p:spPr>
        <p:txBody>
          <a:bodyPr wrap="none" lIns="45720" rIns="45720" anchor="ctr">
            <a:spAutoFit/>
          </a:bodyPr>
          <a:lstStyle/>
          <a:p>
            <a:pPr algn="ctr"/>
            <a:r>
              <a:rPr sz="1100" b="1">
                <a:solidFill>
                  <a:srgbClr val="FFFFFF"/>
                </a:solidFill>
                <a:latin typeface="Noto Sans CJK KR"/>
              </a:rPr>
              <a:t>XSCT  |  Board Download</a:t>
            </a:r>
          </a:p>
        </p:txBody>
      </p:sp>
      <p:sp>
        <p:nvSpPr>
          <p:cNvPr id="18" name="TextBox 1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19" name="TextBox 1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KV260 보드 검증 — 직접 확인 범위와 팀 최종 목표</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개인 검증과 팀 공동 파이프라인 결과를 구분하여 기록</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v260_terminal.png"/>
          <p:cNvPicPr>
            <a:picLocks noChangeAspect="1"/>
          </p:cNvPicPr>
          <p:nvPr/>
        </p:nvPicPr>
        <p:blipFill>
          <a:blip r:embed="rId2"/>
          <a:stretch>
            <a:fillRect/>
          </a:stretch>
        </p:blipFill>
        <p:spPr>
          <a:xfrm>
            <a:off x="411480" y="1078992"/>
            <a:ext cx="5532120" cy="4297680"/>
          </a:xfrm>
          <a:prstGeom prst="rect">
            <a:avLst/>
          </a:prstGeom>
        </p:spPr>
      </p:pic>
      <p:sp>
        <p:nvSpPr>
          <p:cNvPr id="9" name="Rounded Rectangle 8"/>
          <p:cNvSpPr/>
          <p:nvPr/>
        </p:nvSpPr>
        <p:spPr>
          <a:xfrm>
            <a:off x="6199632" y="1078992"/>
            <a:ext cx="5532120" cy="429768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280160"/>
            <a:ext cx="516635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1" name="TextBox 10"/>
          <p:cNvSpPr txBox="1"/>
          <p:nvPr/>
        </p:nvSpPr>
        <p:spPr>
          <a:xfrm>
            <a:off x="6428232" y="2755087"/>
            <a:ext cx="5074920" cy="411480"/>
          </a:xfrm>
          <a:prstGeom prst="rect">
            <a:avLst/>
          </a:prstGeom>
          <a:noFill/>
        </p:spPr>
        <p:txBody>
          <a:bodyPr wrap="none" lIns="45720" rIns="45720" anchor="ctr">
            <a:spAutoFit/>
          </a:bodyPr>
          <a:lstStyle/>
          <a:p>
            <a:pPr algn="ctr"/>
            <a:r>
              <a:rPr sz="1800" b="1">
                <a:solidFill>
                  <a:srgbClr val="0E1F35"/>
                </a:solidFill>
                <a:latin typeface="Noto Sans CJK KR"/>
              </a:rPr>
              <a:t>팀의 실시간 PPE 실행 화면</a:t>
            </a:r>
          </a:p>
        </p:txBody>
      </p:sp>
      <p:sp>
        <p:nvSpPr>
          <p:cNvPr id="12" name="TextBox 11"/>
          <p:cNvSpPr txBox="1"/>
          <p:nvPr/>
        </p:nvSpPr>
        <p:spPr>
          <a:xfrm>
            <a:off x="6519672" y="3700576"/>
            <a:ext cx="4892040" cy="1074420"/>
          </a:xfrm>
          <a:prstGeom prst="rect">
            <a:avLst/>
          </a:prstGeom>
          <a:noFill/>
        </p:spPr>
        <p:txBody>
          <a:bodyPr wrap="none" lIns="45720" rIns="45720" anchor="ctr">
            <a:spAutoFit/>
          </a:bodyPr>
          <a:lstStyle/>
          <a:p>
            <a:pPr algn="ctr"/>
            <a:r>
              <a:rPr sz="1000" b="0">
                <a:solidFill>
                  <a:srgbClr val="66717C"/>
                </a:solidFill>
                <a:latin typeface="Noto Sans CJK KR"/>
              </a:rPr>
              <a:t>조원이 검증한 화면이면 ‘팀 공동 결과’로 표기
본인 직접 재현 후에는 ‘개인 검증 완료’로 변경</a:t>
            </a:r>
          </a:p>
        </p:txBody>
      </p:sp>
      <p:sp>
        <p:nvSpPr>
          <p:cNvPr id="13" name="Rounded Rectangle 12"/>
          <p:cNvSpPr/>
          <p:nvPr/>
        </p:nvSpPr>
        <p:spPr>
          <a:xfrm>
            <a:off x="438912" y="5596128"/>
            <a:ext cx="2724912" cy="658368"/>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650992"/>
            <a:ext cx="822960" cy="228600"/>
          </a:xfrm>
          <a:prstGeom prst="rect">
            <a:avLst/>
          </a:prstGeom>
          <a:noFill/>
        </p:spPr>
        <p:txBody>
          <a:bodyPr wrap="none" lIns="45720" rIns="45720" anchor="ctr">
            <a:spAutoFit/>
          </a:bodyPr>
          <a:lstStyle/>
          <a:p>
            <a:pPr algn="l"/>
            <a:r>
              <a:rPr sz="900" b="1">
                <a:solidFill>
                  <a:srgbClr val="236CB4"/>
                </a:solidFill>
                <a:latin typeface="Noto Sans CJK KR"/>
              </a:rPr>
              <a:t>Webcam</a:t>
            </a:r>
          </a:p>
        </p:txBody>
      </p:sp>
      <p:sp>
        <p:nvSpPr>
          <p:cNvPr id="15" name="TextBox 14"/>
          <p:cNvSpPr txBox="1"/>
          <p:nvPr/>
        </p:nvSpPr>
        <p:spPr>
          <a:xfrm>
            <a:off x="130759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Logitech C270</a:t>
            </a:r>
          </a:p>
        </p:txBody>
      </p:sp>
      <p:sp>
        <p:nvSpPr>
          <p:cNvPr id="16" name="Rounded Rectangle 15"/>
          <p:cNvSpPr/>
          <p:nvPr/>
        </p:nvSpPr>
        <p:spPr>
          <a:xfrm>
            <a:off x="3273552" y="5596128"/>
            <a:ext cx="2724912" cy="658368"/>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5650992"/>
            <a:ext cx="822960" cy="228600"/>
          </a:xfrm>
          <a:prstGeom prst="rect">
            <a:avLst/>
          </a:prstGeom>
          <a:noFill/>
        </p:spPr>
        <p:txBody>
          <a:bodyPr wrap="none" lIns="45720" rIns="45720" anchor="ctr">
            <a:spAutoFit/>
          </a:bodyPr>
          <a:lstStyle/>
          <a:p>
            <a:pPr algn="l"/>
            <a:r>
              <a:rPr sz="900" b="1">
                <a:solidFill>
                  <a:srgbClr val="21AABE"/>
                </a:solidFill>
                <a:latin typeface="Noto Sans CJK KR"/>
              </a:rPr>
              <a:t>Video Node</a:t>
            </a:r>
          </a:p>
        </p:txBody>
      </p:sp>
      <p:sp>
        <p:nvSpPr>
          <p:cNvPr id="18" name="TextBox 17"/>
          <p:cNvSpPr txBox="1"/>
          <p:nvPr/>
        </p:nvSpPr>
        <p:spPr>
          <a:xfrm>
            <a:off x="414223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/dev/video0·1</a:t>
            </a:r>
          </a:p>
        </p:txBody>
      </p:sp>
      <p:sp>
        <p:nvSpPr>
          <p:cNvPr id="19" name="Rounded Rectangle 18"/>
          <p:cNvSpPr/>
          <p:nvPr/>
        </p:nvSpPr>
        <p:spPr>
          <a:xfrm>
            <a:off x="6108192" y="5596128"/>
            <a:ext cx="2724912" cy="658368"/>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5650992"/>
            <a:ext cx="822960" cy="228600"/>
          </a:xfrm>
          <a:prstGeom prst="rect">
            <a:avLst/>
          </a:prstGeom>
          <a:noFill/>
        </p:spPr>
        <p:txBody>
          <a:bodyPr wrap="none" lIns="45720" rIns="45720" anchor="ctr">
            <a:spAutoFit/>
          </a:bodyPr>
          <a:lstStyle/>
          <a:p>
            <a:pPr algn="l"/>
            <a:r>
              <a:rPr sz="900" b="1">
                <a:solidFill>
                  <a:srgbClr val="329C69"/>
                </a:solidFill>
                <a:latin typeface="Noto Sans CJK KR"/>
              </a:rPr>
              <a:t>Overlay</a:t>
            </a:r>
          </a:p>
        </p:txBody>
      </p:sp>
      <p:sp>
        <p:nvSpPr>
          <p:cNvPr id="21" name="TextBox 20"/>
          <p:cNvSpPr txBox="1"/>
          <p:nvPr/>
        </p:nvSpPr>
        <p:spPr>
          <a:xfrm>
            <a:off x="697687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LOADED: True</a:t>
            </a:r>
          </a:p>
        </p:txBody>
      </p:sp>
      <p:sp>
        <p:nvSpPr>
          <p:cNvPr id="22" name="Rounded Rectangle 21"/>
          <p:cNvSpPr/>
          <p:nvPr/>
        </p:nvSpPr>
        <p:spPr>
          <a:xfrm>
            <a:off x="8942832" y="5596128"/>
            <a:ext cx="2724912" cy="658368"/>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59" y="5650992"/>
            <a:ext cx="822960" cy="228600"/>
          </a:xfrm>
          <a:prstGeom prst="rect">
            <a:avLst/>
          </a:prstGeom>
          <a:noFill/>
        </p:spPr>
        <p:txBody>
          <a:bodyPr wrap="none" lIns="45720" rIns="45720" anchor="ctr">
            <a:spAutoFit/>
          </a:bodyPr>
          <a:lstStyle/>
          <a:p>
            <a:pPr algn="l"/>
            <a:r>
              <a:rPr sz="900" b="1">
                <a:solidFill>
                  <a:srgbClr val="EB8B36"/>
                </a:solidFill>
                <a:latin typeface="Noto Sans CJK KR"/>
              </a:rPr>
              <a:t>PYNQ IP</a:t>
            </a:r>
          </a:p>
        </p:txBody>
      </p:sp>
      <p:sp>
        <p:nvSpPr>
          <p:cNvPr id="24" name="TextBox 23"/>
          <p:cNvSpPr txBox="1"/>
          <p:nvPr/>
        </p:nvSpPr>
        <p:spPr>
          <a:xfrm>
            <a:off x="9811511"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model6_dma</a:t>
            </a:r>
          </a:p>
        </p:txBody>
      </p:sp>
      <p:sp>
        <p:nvSpPr>
          <p:cNvPr id="25" name="TextBox 24"/>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6" name="TextBox 25"/>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성과, 한계, 그리고 다음 단계</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단일 IP의 속도보다 전체 연산 범위와 데이터 이동이 시스템 성능을 결정</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 y="1234440"/>
            <a:ext cx="3529584" cy="388620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3503" y="1417320"/>
            <a:ext cx="320040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나의 확인 성과</a:t>
            </a:r>
          </a:p>
        </p:txBody>
      </p:sp>
      <p:sp>
        <p:nvSpPr>
          <p:cNvPr id="11" name="TextBox 10"/>
          <p:cNvSpPr txBox="1"/>
          <p:nvPr/>
        </p:nvSpPr>
        <p:spPr>
          <a:xfrm>
            <a:off x="7315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model.6 IP/BD 통합</a:t>
            </a:r>
          </a:p>
        </p:txBody>
      </p:sp>
      <p:sp>
        <p:nvSpPr>
          <p:cNvPr id="12" name="TextBox 11"/>
          <p:cNvSpPr txBox="1"/>
          <p:nvPr/>
        </p:nvSpPr>
        <p:spPr>
          <a:xfrm>
            <a:off x="7315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100 MHz Timing 만족</a:t>
            </a:r>
          </a:p>
        </p:txBody>
      </p:sp>
      <p:sp>
        <p:nvSpPr>
          <p:cNvPr id="13" name="TextBox 12"/>
          <p:cNvSpPr txBox="1"/>
          <p:nvPr/>
        </p:nvSpPr>
        <p:spPr>
          <a:xfrm>
            <a:off x="7315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Bitstream·XSA 생성</a:t>
            </a:r>
          </a:p>
        </p:txBody>
      </p:sp>
      <p:sp>
        <p:nvSpPr>
          <p:cNvPr id="14" name="TextBox 13"/>
          <p:cNvSpPr txBox="1"/>
          <p:nvPr/>
        </p:nvSpPr>
        <p:spPr>
          <a:xfrm>
            <a:off x="7315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KV260 Overlay 로딩</a:t>
            </a:r>
          </a:p>
        </p:txBody>
      </p:sp>
      <p:sp>
        <p:nvSpPr>
          <p:cNvPr id="15" name="Rounded Rectangle 14"/>
          <p:cNvSpPr/>
          <p:nvPr/>
        </p:nvSpPr>
        <p:spPr>
          <a:xfrm>
            <a:off x="4325112" y="1234440"/>
            <a:ext cx="3529584" cy="388620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9704" y="1417320"/>
            <a:ext cx="32004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현재 한계</a:t>
            </a:r>
          </a:p>
        </p:txBody>
      </p:sp>
      <p:sp>
        <p:nvSpPr>
          <p:cNvPr id="18" name="TextBox 17"/>
          <p:cNvSpPr txBox="1"/>
          <p:nvPr/>
        </p:nvSpPr>
        <p:spPr>
          <a:xfrm>
            <a:off x="46177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실시간 PPE 직접 재현 전</a:t>
            </a:r>
          </a:p>
        </p:txBody>
      </p:sp>
      <p:sp>
        <p:nvSpPr>
          <p:cNvPr id="19" name="TextBox 18"/>
          <p:cNvSpPr txBox="1"/>
          <p:nvPr/>
        </p:nvSpPr>
        <p:spPr>
          <a:xfrm>
            <a:off x="46177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DMA MMIO 대기 원인 필요</a:t>
            </a:r>
          </a:p>
        </p:txBody>
      </p:sp>
      <p:sp>
        <p:nvSpPr>
          <p:cNvPr id="20" name="TextBox 19"/>
          <p:cNvSpPr txBox="1"/>
          <p:nvPr/>
        </p:nvSpPr>
        <p:spPr>
          <a:xfrm>
            <a:off x="46177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팀 결과와 개인 기여 구분</a:t>
            </a:r>
          </a:p>
        </p:txBody>
      </p:sp>
      <p:sp>
        <p:nvSpPr>
          <p:cNvPr id="21" name="TextBox 20"/>
          <p:cNvSpPr txBox="1"/>
          <p:nvPr/>
        </p:nvSpPr>
        <p:spPr>
          <a:xfrm>
            <a:off x="46177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CPU·DDR 병목 가능성</a:t>
            </a:r>
          </a:p>
        </p:txBody>
      </p:sp>
      <p:sp>
        <p:nvSpPr>
          <p:cNvPr id="22" name="Rounded Rectangle 21"/>
          <p:cNvSpPr/>
          <p:nvPr/>
        </p:nvSpPr>
        <p:spPr>
          <a:xfrm>
            <a:off x="8211312" y="1234440"/>
            <a:ext cx="3529584" cy="388620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75904" y="1417320"/>
            <a:ext cx="320040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16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다음 단계</a:t>
            </a:r>
          </a:p>
        </p:txBody>
      </p:sp>
      <p:sp>
        <p:nvSpPr>
          <p:cNvPr id="25" name="TextBox 24"/>
          <p:cNvSpPr txBox="1"/>
          <p:nvPr/>
        </p:nvSpPr>
        <p:spPr>
          <a:xfrm>
            <a:off x="85039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DMA 단독 Loopback 검증</a:t>
            </a:r>
          </a:p>
        </p:txBody>
      </p:sp>
      <p:sp>
        <p:nvSpPr>
          <p:cNvPr id="26" name="TextBox 25"/>
          <p:cNvSpPr txBox="1"/>
          <p:nvPr/>
        </p:nvSpPr>
        <p:spPr>
          <a:xfrm>
            <a:off x="85039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Golden 특징맵 비교</a:t>
            </a:r>
          </a:p>
        </p:txBody>
      </p:sp>
      <p:sp>
        <p:nvSpPr>
          <p:cNvPr id="27" name="TextBox 26"/>
          <p:cNvSpPr txBox="1"/>
          <p:nvPr/>
        </p:nvSpPr>
        <p:spPr>
          <a:xfrm>
            <a:off x="85039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웹캠 전체 Pipeline 재현</a:t>
            </a:r>
          </a:p>
        </p:txBody>
      </p:sp>
      <p:sp>
        <p:nvSpPr>
          <p:cNvPr id="28" name="TextBox 27"/>
          <p:cNvSpPr txBox="1"/>
          <p:nvPr/>
        </p:nvSpPr>
        <p:spPr>
          <a:xfrm>
            <a:off x="85039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FPS·정확도 직접 측정</a:t>
            </a:r>
          </a:p>
        </p:txBody>
      </p:sp>
      <p:sp>
        <p:nvSpPr>
          <p:cNvPr id="29" name="Rounded Rectangle 28"/>
          <p:cNvSpPr/>
          <p:nvPr/>
        </p:nvSpPr>
        <p:spPr>
          <a:xfrm>
            <a:off x="438912" y="5285232"/>
            <a:ext cx="11301984" cy="438912"/>
          </a:xfrm>
          <a:prstGeom prst="roundRect">
            <a:avLst/>
          </a:prstGeom>
          <a:solidFill>
            <a:srgbClr val="236CB4"/>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303520"/>
            <a:ext cx="10881360" cy="384048"/>
          </a:xfrm>
          <a:prstGeom prst="rect">
            <a:avLst/>
          </a:prstGeom>
          <a:noFill/>
        </p:spPr>
        <p:txBody>
          <a:bodyPr wrap="none" lIns="45720" rIns="45720" anchor="ctr">
            <a:spAutoFit/>
          </a:bodyPr>
          <a:lstStyle/>
          <a:p>
            <a:pPr algn="ctr"/>
            <a:r>
              <a:rPr sz="1100" b="1">
                <a:solidFill>
                  <a:srgbClr val="FFFFFF"/>
                </a:solidFill>
                <a:latin typeface="Noto Sans CJK KR"/>
              </a:rPr>
              <a:t>AI 활용  |  Repository 분석 · 로그 기반 디버깅 · Tcl/Python 검토 · 증거 문서화 · PPT 생성</a:t>
            </a:r>
          </a:p>
        </p:txBody>
      </p:sp>
      <p:sp>
        <p:nvSpPr>
          <p:cNvPr id="31" name="Rounded Rectangle 30"/>
          <p:cNvSpPr/>
          <p:nvPr/>
        </p:nvSpPr>
        <p:spPr>
          <a:xfrm>
            <a:off x="438912" y="5806440"/>
            <a:ext cx="11301984" cy="53035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833872"/>
            <a:ext cx="10698480" cy="438912"/>
          </a:xfrm>
          <a:prstGeom prst="rect">
            <a:avLst/>
          </a:prstGeom>
          <a:noFill/>
        </p:spPr>
        <p:txBody>
          <a:bodyPr wrap="none" lIns="45720" rIns="45720" anchor="ctr">
            <a:spAutoFit/>
          </a:bodyPr>
          <a:lstStyle/>
          <a:p>
            <a:pPr algn="ctr"/>
            <a:r>
              <a:rPr sz="1200" b="1">
                <a:solidFill>
                  <a:srgbClr val="FFFFFF"/>
                </a:solidFill>
                <a:latin typeface="Noto Sans CJK KR"/>
              </a:rPr>
              <a:t>결론  |  model.6 통합·Bitstream·Overlay 로딩 완료, 다음은 DMA와 전체 추론 직접 검증</a:t>
            </a:r>
          </a:p>
        </p:txBody>
      </p:sp>
      <p:sp>
        <p:nvSpPr>
          <p:cNvPr id="33" name="TextBox 32"/>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Project Retrospective</a:t>
            </a:r>
          </a:p>
        </p:txBody>
      </p:sp>
      <p:sp>
        <p:nvSpPr>
          <p:cNvPr id="34" name="TextBox 33"/>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와이드스크린</PresentationFormat>
  <Slides>18</Slides>
  <Notes>13</Notes>
  <HiddenSlides>0</HiddenSlides>
  <ScaleCrop>false</ScaleCrop>
  <HeadingPairs>
    <vt:vector size="4" baseType="variant">
      <vt:variant>
        <vt:lpstr>테마</vt:lpstr>
      </vt:variant>
      <vt:variant>
        <vt:i4>1</vt:i4>
      </vt:variant>
      <vt:variant>
        <vt:lpstr>슬라이드 제목</vt:lpstr>
      </vt:variant>
      <vt:variant>
        <vt:i4>18</vt:i4>
      </vt:variant>
    </vt:vector>
  </HeadingPairs>
  <TitlesOfParts>
    <vt:vector size="19"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59</cp:revision>
  <dcterms:created xsi:type="dcterms:W3CDTF">2026-08-10T01:47:46Z</dcterms:created>
  <dcterms:modified xsi:type="dcterms:W3CDTF">2026-08-11T09:25:49Z</dcterms:modified>
</cp:coreProperties>
</file>