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8"/>
    <p:sldId id="257" r:id="rId9"/>
    <p:sldId id="258" r:id="rId10"/>
    <p:sldId id="259" r:id="rId11"/>
    <p:sldId id="260" r:id="rId12"/>
    <p:sldId id="26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F5C72-00B2-41A8-A7E5-4DA6AE61A6E1}" v="52" dt="2026-08-10T05:21:42.983"/>
    <p1510:client id="{2EBFB4AE-0A2A-4AFD-A9EE-A92268D3D85C}" v="160" dt="2026-08-10T09:13:08.991"/>
    <p1510:client id="{3C30B0C6-B0F6-4A42-B71F-E335E3B5566B}" v="344" dt="2026-08-11T08:12:35.620"/>
    <p1510:client id="{48623BE5-BD53-4F1D-B199-64C60FEBAFE2}" v="694" dt="2026-08-10T07:06:43.790"/>
    <p1510:client id="{96E12B9F-A9C6-4B13-A2A7-356CE5D6F995}" v="129" dt="2026-08-11T05:02:46.974"/>
    <p1510:client id="{976FAA9D-DDC6-4A8F-A621-6C3EFF4B4946}" v="2315" dt="2026-08-11T07:17:34.956"/>
    <p1510:client id="{DCDD2C3C-152D-4C58-A44F-0DD5FCE59530}" v="159" dt="2026-08-10T02:05:41.096"/>
    <p1510:client id="{FBE15653-5827-A265-86D4-2BF8D9AA2764}" v="155" dt="2026-08-11T09:11:3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4E1288-EED4-444D-99D3-DD43526BC351}" type="datetimeFigureOut">
              <a:t>2026-08-11</a:t>
            </a:fld>
            <a:endParaRPr lang="ko-KR" altLang="en-US"/>
          </a:p>
        </p:txBody>
      </p:sp>
      <p:sp>
        <p:nvSpPr>
          <p:cNvPr id="4" name="슬라이드 이미지 개체 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E92029-F171-4FE6-AED7-3AF13C61E2E4}" type="slidenum">
              <a:t>‹#›</a:t>
            </a:fld>
            <a:endParaRPr lang="ko-KR" altLang="en-US"/>
          </a:p>
        </p:txBody>
      </p:sp>
    </p:spTree>
    <p:extLst>
      <p:ext uri="{BB962C8B-B14F-4D97-AF65-F5344CB8AC3E}">
        <p14:creationId xmlns:p14="http://schemas.microsoft.com/office/powerpoint/2010/main" val="41639862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어려웠던 점은 단위 IP의 simulation 성공이 전체 FPGA 성공을 보장하지 않았다는 것입니다. 전체 통합에서는 최대 6만6천590개의 node overlap과 congestion level 6이 발생했습니다. 조합 handshake를 끊고 병렬도와 LUTRAM 집중을 분석했으며, cv2를 CPU로 이동해 하드웨어 경계를 다시 정했습니다. C Simulation에서는 보이지 않던 Stream 교착은 DATAFLOW와 FIFO로 해결했고, BRAM byte와 word 주소 차이는 입력을 0으로 만든 실험으로 4c 규칙을 찾아냈습니다. DMA 길이와 HWC 배열까지 수정했지만 제 개인 보드에서는 MMIO 전체 실행이 남았습니다. 그래서 성공과 미완료 범위를 분리해 기록했습니다.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문제를 만날 때 성공 기준을 Validate, Synthesis, Legal Routing, Timing, Bitstream, Board I/O로 나눴습니다. Codex에는 설계 이미지, GitHub와 로컬 소스, component XML과 실제 로그를 함께 제공해 원인 후보와 다음 검증 명령을 만들게 했습니다. 하지만 실행과 판단은 실제 터미널 결과로 다시 확인했습니다. 그 결과 개인 빌드는 WNS 플러스 0.220나노초, DRC 오류 0, Bitstream과 XSA, Overlay 로딩까지 수렴했습니다. 동시에 DMA와 실시간 PPE의 개인 End-to-End 검증은 남은 과제로 명시했습니다. 이 경험을 통해 실패를 감추는 것보다 재현 가능한 수치로 범위를 좁히는 것이 더 중요한 엔지니어링 역량임을 배웠습니다.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나의 담당 역할 — Codex와 model.6 FPGA 통합</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팀 공동 YOLOv8n 프로젝트에서 C2f 하드웨어 통합·디버깅·보드 구동을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1508760" cy="96012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527048"/>
            <a:ext cx="1362456" cy="731520"/>
          </a:xfrm>
          <a:prstGeom prst="rect">
            <a:avLst/>
          </a:prstGeom>
          <a:noFill/>
        </p:spPr>
        <p:txBody>
          <a:bodyPr wrap="none" lIns="45720" rIns="45720" anchor="ctr">
            <a:spAutoFit/>
          </a:bodyPr>
          <a:lstStyle/>
          <a:p>
            <a:pPr algn="ctr"/>
            <a:r>
              <a:rPr sz="1500" b="1">
                <a:solidFill>
                  <a:srgbClr val="236CB4"/>
                </a:solidFill>
                <a:latin typeface="Noto Sans CJK KR"/>
              </a:rPr>
              <a:t>구조·설계도
AI 분석</a:t>
            </a:r>
          </a:p>
        </p:txBody>
      </p:sp>
      <p:sp>
        <p:nvSpPr>
          <p:cNvPr id="10" name="Right Arrow 9"/>
          <p:cNvSpPr/>
          <p:nvPr/>
        </p:nvSpPr>
        <p:spPr>
          <a:xfrm>
            <a:off x="2066543"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04872" y="1417320"/>
            <a:ext cx="1508760" cy="960120"/>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1527048"/>
            <a:ext cx="1362456" cy="731520"/>
          </a:xfrm>
          <a:prstGeom prst="rect">
            <a:avLst/>
          </a:prstGeom>
          <a:noFill/>
        </p:spPr>
        <p:txBody>
          <a:bodyPr wrap="none" lIns="45720" rIns="45720" anchor="ctr">
            <a:spAutoFit/>
          </a:bodyPr>
          <a:lstStyle/>
          <a:p>
            <a:pPr algn="ctr"/>
            <a:r>
              <a:rPr sz="1500" b="1">
                <a:solidFill>
                  <a:srgbClr val="21AABE"/>
                </a:solidFill>
                <a:latin typeface="Noto Sans CJK KR"/>
              </a:rPr>
              <a:t>HLS IP
인터페이스</a:t>
            </a:r>
          </a:p>
        </p:txBody>
      </p:sp>
      <p:sp>
        <p:nvSpPr>
          <p:cNvPr id="13" name="Right Arrow 12"/>
          <p:cNvSpPr/>
          <p:nvPr/>
        </p:nvSpPr>
        <p:spPr>
          <a:xfrm>
            <a:off x="3968496"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6824" y="1417320"/>
            <a:ext cx="1508760" cy="96012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27048"/>
            <a:ext cx="1362456" cy="731520"/>
          </a:xfrm>
          <a:prstGeom prst="rect">
            <a:avLst/>
          </a:prstGeom>
          <a:noFill/>
        </p:spPr>
        <p:txBody>
          <a:bodyPr wrap="none" lIns="45720" rIns="45720" anchor="ctr">
            <a:spAutoFit/>
          </a:bodyPr>
          <a:lstStyle/>
          <a:p>
            <a:pPr algn="ctr"/>
            <a:r>
              <a:rPr sz="1500" b="1">
                <a:solidFill>
                  <a:srgbClr val="329C69"/>
                </a:solidFill>
                <a:latin typeface="Noto Sans CJK KR"/>
              </a:rPr>
              <a:t>Vivado BD
통합</a:t>
            </a:r>
          </a:p>
        </p:txBody>
      </p:sp>
      <p:sp>
        <p:nvSpPr>
          <p:cNvPr id="16" name="Right Arrow 15"/>
          <p:cNvSpPr/>
          <p:nvPr/>
        </p:nvSpPr>
        <p:spPr>
          <a:xfrm>
            <a:off x="5870448"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08776" y="1417320"/>
            <a:ext cx="1508760" cy="96012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527048"/>
            <a:ext cx="1362456" cy="731520"/>
          </a:xfrm>
          <a:prstGeom prst="rect">
            <a:avLst/>
          </a:prstGeom>
          <a:noFill/>
        </p:spPr>
        <p:txBody>
          <a:bodyPr wrap="none" lIns="45720" rIns="45720" anchor="ctr">
            <a:spAutoFit/>
          </a:bodyPr>
          <a:lstStyle/>
          <a:p>
            <a:pPr algn="ctr"/>
            <a:r>
              <a:rPr sz="1500" b="1">
                <a:solidFill>
                  <a:srgbClr val="EB8B36"/>
                </a:solidFill>
                <a:latin typeface="Noto Sans CJK KR"/>
              </a:rPr>
              <a:t>병목·오류
디버깅</a:t>
            </a:r>
          </a:p>
        </p:txBody>
      </p:sp>
      <p:sp>
        <p:nvSpPr>
          <p:cNvPr id="19" name="Right Arrow 18"/>
          <p:cNvSpPr/>
          <p:nvPr/>
        </p:nvSpPr>
        <p:spPr>
          <a:xfrm>
            <a:off x="7772400"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10728" y="1417320"/>
            <a:ext cx="1508760" cy="960120"/>
          </a:xfrm>
          <a:prstGeom prst="roundRect">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1527048"/>
            <a:ext cx="1362456" cy="731520"/>
          </a:xfrm>
          <a:prstGeom prst="rect">
            <a:avLst/>
          </a:prstGeom>
          <a:noFill/>
        </p:spPr>
        <p:txBody>
          <a:bodyPr wrap="none" lIns="45720" rIns="45720" anchor="ctr">
            <a:spAutoFit/>
          </a:bodyPr>
          <a:lstStyle/>
          <a:p>
            <a:pPr algn="ctr"/>
            <a:r>
              <a:rPr sz="1500" b="1">
                <a:solidFill>
                  <a:srgbClr val="CD4949"/>
                </a:solidFill>
                <a:latin typeface="Noto Sans CJK KR"/>
              </a:rPr>
              <a:t>Bitstream
생성</a:t>
            </a:r>
          </a:p>
        </p:txBody>
      </p:sp>
      <p:sp>
        <p:nvSpPr>
          <p:cNvPr id="22" name="Right Arrow 21"/>
          <p:cNvSpPr/>
          <p:nvPr/>
        </p:nvSpPr>
        <p:spPr>
          <a:xfrm>
            <a:off x="9674352"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12680" y="1417320"/>
            <a:ext cx="1508760" cy="960120"/>
          </a:xfrm>
          <a:prstGeom prst="roundRect">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85832" y="1527048"/>
            <a:ext cx="1362456" cy="731520"/>
          </a:xfrm>
          <a:prstGeom prst="rect">
            <a:avLst/>
          </a:prstGeom>
          <a:noFill/>
        </p:spPr>
        <p:txBody>
          <a:bodyPr wrap="none" lIns="45720" rIns="45720" anchor="ctr">
            <a:spAutoFit/>
          </a:bodyPr>
          <a:lstStyle/>
          <a:p>
            <a:pPr algn="ctr"/>
            <a:r>
              <a:rPr sz="1500" b="1">
                <a:solidFill>
                  <a:srgbClr val="0E1F35"/>
                </a:solidFill>
                <a:latin typeface="Noto Sans CJK KR"/>
              </a:rPr>
              <a:t>KV260
Bring-up</a:t>
            </a:r>
          </a:p>
        </p:txBody>
      </p:sp>
      <p:pic>
        <p:nvPicPr>
          <p:cNvPr id="25" name="Picture 24" descr="model6_c2f_design.png"/>
          <p:cNvPicPr>
            <a:picLocks noChangeAspect="1"/>
          </p:cNvPicPr>
          <p:nvPr/>
        </p:nvPicPr>
        <p:blipFill>
          <a:blip r:embed="rId2"/>
          <a:stretch>
            <a:fillRect/>
          </a:stretch>
        </p:blipFill>
        <p:spPr>
          <a:xfrm>
            <a:off x="640080" y="2788920"/>
            <a:ext cx="5074920" cy="2514600"/>
          </a:xfrm>
          <a:prstGeom prst="rect">
            <a:avLst/>
          </a:prstGeom>
        </p:spPr>
      </p:pic>
      <p:sp>
        <p:nvSpPr>
          <p:cNvPr id="26" name="Rounded Rectangle 25"/>
          <p:cNvSpPr/>
          <p:nvPr/>
        </p:nvSpPr>
        <p:spPr>
          <a:xfrm>
            <a:off x="6126480" y="2788920"/>
            <a:ext cx="5394960" cy="2514600"/>
          </a:xfrm>
          <a:prstGeom prst="round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999232"/>
            <a:ext cx="4754880" cy="384048"/>
          </a:xfrm>
          <a:prstGeom prst="rect">
            <a:avLst/>
          </a:prstGeom>
          <a:noFill/>
        </p:spPr>
        <p:txBody>
          <a:bodyPr wrap="none" lIns="45720" rIns="45720" anchor="ctr">
            <a:spAutoFit/>
          </a:bodyPr>
          <a:lstStyle/>
          <a:p>
            <a:pPr algn="l"/>
            <a:r>
              <a:rPr sz="1900" b="1">
                <a:solidFill>
                  <a:srgbClr val="0E1F35"/>
                </a:solidFill>
                <a:latin typeface="Noto Sans CJK KR"/>
              </a:rPr>
              <a:t>나의 핵심 업무</a:t>
            </a:r>
          </a:p>
        </p:txBody>
      </p:sp>
      <p:sp>
        <p:nvSpPr>
          <p:cNvPr id="28" name="TextBox 27"/>
          <p:cNvSpPr txBox="1"/>
          <p:nvPr/>
        </p:nvSpPr>
        <p:spPr>
          <a:xfrm>
            <a:off x="6473952" y="3511296"/>
            <a:ext cx="4572000" cy="283464"/>
          </a:xfrm>
          <a:prstGeom prst="rect">
            <a:avLst/>
          </a:prstGeom>
          <a:noFill/>
        </p:spPr>
        <p:txBody>
          <a:bodyPr wrap="none" lIns="45720" rIns="45720" anchor="ctr">
            <a:spAutoFit/>
          </a:bodyPr>
          <a:lstStyle/>
          <a:p>
            <a:pPr algn="l"/>
            <a:r>
              <a:rPr sz="1100" b="0">
                <a:solidFill>
                  <a:srgbClr val="27303B"/>
                </a:solidFill>
                <a:latin typeface="Noto Sans CJK KR"/>
              </a:rPr>
              <a:t>• model.6 C2f 구조·특징맵 shape·설계 Flow 확인</a:t>
            </a:r>
          </a:p>
        </p:txBody>
      </p:sp>
      <p:sp>
        <p:nvSpPr>
          <p:cNvPr id="29" name="TextBox 28"/>
          <p:cNvSpPr txBox="1"/>
          <p:nvPr/>
        </p:nvSpPr>
        <p:spPr>
          <a:xfrm>
            <a:off x="6473952" y="3858768"/>
            <a:ext cx="4572000" cy="283464"/>
          </a:xfrm>
          <a:prstGeom prst="rect">
            <a:avLst/>
          </a:prstGeom>
          <a:noFill/>
        </p:spPr>
        <p:txBody>
          <a:bodyPr wrap="none" lIns="45720" rIns="45720" anchor="ctr">
            <a:spAutoFit/>
          </a:bodyPr>
          <a:lstStyle/>
          <a:p>
            <a:pPr algn="l"/>
            <a:r>
              <a:rPr sz="1100" b="0">
                <a:solidFill>
                  <a:srgbClr val="27303B"/>
                </a:solidFill>
                <a:latin typeface="Noto Sans CJK KR"/>
              </a:rPr>
              <a:t>• HLS IP 포트 및 AXI/DMA/Clock/Reset 연결</a:t>
            </a:r>
          </a:p>
        </p:txBody>
      </p:sp>
      <p:sp>
        <p:nvSpPr>
          <p:cNvPr id="30" name="TextBox 29"/>
          <p:cNvSpPr txBox="1"/>
          <p:nvPr/>
        </p:nvSpPr>
        <p:spPr>
          <a:xfrm>
            <a:off x="6473952" y="4206240"/>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Vivado 혼잡·Timing·DRC 로그 기반 반복 수정</a:t>
            </a:r>
          </a:p>
        </p:txBody>
      </p:sp>
      <p:sp>
        <p:nvSpPr>
          <p:cNvPr id="31" name="TextBox 30"/>
          <p:cNvSpPr txBox="1"/>
          <p:nvPr/>
        </p:nvSpPr>
        <p:spPr>
          <a:xfrm>
            <a:off x="6473952" y="4553712"/>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Vitis/XSCT 빌드·다운로드와 KV260 환경 검증</a:t>
            </a:r>
          </a:p>
        </p:txBody>
      </p:sp>
      <p:sp>
        <p:nvSpPr>
          <p:cNvPr id="32" name="TextBox 31"/>
          <p:cNvSpPr txBox="1"/>
          <p:nvPr/>
        </p:nvSpPr>
        <p:spPr>
          <a:xfrm>
            <a:off x="6473952" y="4901183"/>
            <a:ext cx="4572000" cy="283464"/>
          </a:xfrm>
          <a:prstGeom prst="rect">
            <a:avLst/>
          </a:prstGeom>
          <a:noFill/>
        </p:spPr>
        <p:txBody>
          <a:bodyPr wrap="none" lIns="45720" rIns="45720" anchor="ctr">
            <a:spAutoFit/>
          </a:bodyPr>
          <a:lstStyle/>
          <a:p>
            <a:pPr algn="l"/>
            <a:r>
              <a:rPr sz="1100" b="0">
                <a:solidFill>
                  <a:srgbClr val="27303B"/>
                </a:solidFill>
                <a:latin typeface="Noto Sans CJK KR"/>
              </a:rPr>
              <a:t>• Codex로 이미지·코드·로그·문서를 교차 분석</a:t>
            </a:r>
          </a:p>
        </p:txBody>
      </p:sp>
      <p:sp>
        <p:nvSpPr>
          <p:cNvPr id="33" name="Rounded Rectangle 32"/>
          <p:cNvSpPr/>
          <p:nvPr/>
        </p:nvSpPr>
        <p:spPr>
          <a:xfrm>
            <a:off x="640080" y="5504688"/>
            <a:ext cx="10881360" cy="71323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559552"/>
            <a:ext cx="2011680" cy="256032"/>
          </a:xfrm>
          <a:prstGeom prst="rect">
            <a:avLst/>
          </a:prstGeom>
          <a:noFill/>
        </p:spPr>
        <p:txBody>
          <a:bodyPr wrap="none" lIns="45720" rIns="45720" anchor="ctr">
            <a:spAutoFit/>
          </a:bodyPr>
          <a:lstStyle/>
          <a:p>
            <a:pPr algn="l"/>
            <a:r>
              <a:rPr sz="1200" b="1">
                <a:solidFill>
                  <a:srgbClr val="FFFFFF"/>
                </a:solidFill>
                <a:latin typeface="Noto Sans CJK KR"/>
              </a:rPr>
              <a:t>AI 협업 워크플로</a:t>
            </a:r>
          </a:p>
        </p:txBody>
      </p:sp>
      <p:sp>
        <p:nvSpPr>
          <p:cNvPr id="35" name="TextBox 34"/>
          <p:cNvSpPr txBox="1"/>
          <p:nvPr/>
        </p:nvSpPr>
        <p:spPr>
          <a:xfrm>
            <a:off x="2743200" y="5532120"/>
            <a:ext cx="8458200" cy="530352"/>
          </a:xfrm>
          <a:prstGeom prst="rect">
            <a:avLst/>
          </a:prstGeom>
          <a:noFill/>
        </p:spPr>
        <p:txBody>
          <a:bodyPr wrap="none" lIns="45720" rIns="45720" anchor="ctr">
            <a:spAutoFit/>
          </a:bodyPr>
          <a:lstStyle/>
          <a:p>
            <a:pPr algn="ctr"/>
            <a:r>
              <a:rPr sz="1100" b="1">
                <a:solidFill>
                  <a:srgbClr val="FFFFFF"/>
                </a:solidFill>
                <a:latin typeface="Noto Sans CJK KR"/>
              </a:rPr>
              <a:t>설계 이미지 + 팀 GitHub + 로컬 파일  →  Codex 분석  →  터미널 실행  →  로그 재검증·문서화</a:t>
            </a:r>
          </a:p>
        </p:txBody>
      </p:sp>
      <p:sp>
        <p:nvSpPr>
          <p:cNvPr id="36" name="TextBox 3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37" name="TextBox 3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Vivado Block Design — CPU와 FPGA를 하나로 연결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PS는 YOLO 전·후단, PL은 model.6, DMA는 특징맵 전송을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097280"/>
            <a:ext cx="7498079" cy="507492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713231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0" name="TextBox 9"/>
          <p:cNvSpPr txBox="1"/>
          <p:nvPr/>
        </p:nvSpPr>
        <p:spPr>
          <a:xfrm>
            <a:off x="640080" y="3076498"/>
            <a:ext cx="7040879" cy="411480"/>
          </a:xfrm>
          <a:prstGeom prst="rect">
            <a:avLst/>
          </a:prstGeom>
          <a:noFill/>
        </p:spPr>
        <p:txBody>
          <a:bodyPr wrap="none" lIns="45720" rIns="45720" anchor="ctr">
            <a:spAutoFit/>
          </a:bodyPr>
          <a:lstStyle/>
          <a:p>
            <a:pPr algn="ctr"/>
            <a:r>
              <a:rPr sz="1800" b="1">
                <a:solidFill>
                  <a:srgbClr val="0E1F35"/>
                </a:solidFill>
                <a:latin typeface="Noto Sans CJK KR"/>
              </a:rPr>
              <a:t>Vivado 최종 Block Design 전체</a:t>
            </a:r>
          </a:p>
        </p:txBody>
      </p:sp>
      <p:sp>
        <p:nvSpPr>
          <p:cNvPr id="11" name="TextBox 10"/>
          <p:cNvSpPr txBox="1"/>
          <p:nvPr/>
        </p:nvSpPr>
        <p:spPr>
          <a:xfrm>
            <a:off x="731520" y="4192981"/>
            <a:ext cx="6857999" cy="1268730"/>
          </a:xfrm>
          <a:prstGeom prst="rect">
            <a:avLst/>
          </a:prstGeom>
          <a:noFill/>
        </p:spPr>
        <p:txBody>
          <a:bodyPr wrap="none" lIns="45720" rIns="45720" anchor="ctr">
            <a:spAutoFit/>
          </a:bodyPr>
          <a:lstStyle/>
          <a:p>
            <a:pPr algn="ctr"/>
            <a:r>
              <a:rPr sz="1000" b="0">
                <a:solidFill>
                  <a:srgbClr val="66717C"/>
                </a:solidFill>
                <a:latin typeface="Noto Sans CJK KR"/>
              </a:rPr>
              <a:t>PS·AXI DMA·model.6 IP·Clock/Reset이
모두 보이게 Zoom to Fit로 캡처</a:t>
            </a:r>
          </a:p>
        </p:txBody>
      </p:sp>
      <p:sp>
        <p:nvSpPr>
          <p:cNvPr id="12" name="Rounded Rectangle 11"/>
          <p:cNvSpPr/>
          <p:nvPr/>
        </p:nvSpPr>
        <p:spPr>
          <a:xfrm>
            <a:off x="8183879" y="1097280"/>
            <a:ext cx="3566160" cy="1097280"/>
          </a:xfrm>
          <a:prstGeom prst="roundRect">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234440"/>
            <a:ext cx="3200400" cy="292608"/>
          </a:xfrm>
          <a:prstGeom prst="rect">
            <a:avLst/>
          </a:prstGeom>
          <a:noFill/>
        </p:spPr>
        <p:txBody>
          <a:bodyPr wrap="none" lIns="45720" rIns="45720" anchor="ctr">
            <a:spAutoFit/>
          </a:bodyPr>
          <a:lstStyle/>
          <a:p>
            <a:pPr algn="l"/>
            <a:r>
              <a:rPr sz="1500" b="1">
                <a:solidFill>
                  <a:srgbClr val="236CB4"/>
                </a:solidFill>
                <a:latin typeface="Noto Sans CJK KR"/>
              </a:rPr>
              <a:t>PS (ARM CPU + DDR)</a:t>
            </a:r>
          </a:p>
        </p:txBody>
      </p:sp>
      <p:sp>
        <p:nvSpPr>
          <p:cNvPr id="14" name="TextBox 13"/>
          <p:cNvSpPr txBox="1"/>
          <p:nvPr/>
        </p:nvSpPr>
        <p:spPr>
          <a:xfrm>
            <a:off x="8366760" y="1609344"/>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model.0~5 / cv2+7~22 실행</a:t>
            </a:r>
          </a:p>
        </p:txBody>
      </p:sp>
      <p:sp>
        <p:nvSpPr>
          <p:cNvPr id="15" name="Rounded Rectangle 14"/>
          <p:cNvSpPr/>
          <p:nvPr/>
        </p:nvSpPr>
        <p:spPr>
          <a:xfrm>
            <a:off x="8183879" y="2395728"/>
            <a:ext cx="3566160" cy="1097280"/>
          </a:xfrm>
          <a:prstGeom prst="roundRect">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42032"/>
            <a:ext cx="3200400" cy="292608"/>
          </a:xfrm>
          <a:prstGeom prst="rect">
            <a:avLst/>
          </a:prstGeom>
          <a:noFill/>
        </p:spPr>
        <p:txBody>
          <a:bodyPr wrap="none" lIns="45720" rIns="45720" anchor="ctr">
            <a:spAutoFit/>
          </a:bodyPr>
          <a:lstStyle/>
          <a:p>
            <a:pPr algn="l"/>
            <a:r>
              <a:rPr sz="1500" b="1">
                <a:solidFill>
                  <a:srgbClr val="EB8B36"/>
                </a:solidFill>
                <a:latin typeface="Noto Sans CJK KR"/>
              </a:rPr>
              <a:t>AXI DMA</a:t>
            </a:r>
          </a:p>
        </p:txBody>
      </p:sp>
      <p:sp>
        <p:nvSpPr>
          <p:cNvPr id="17" name="TextBox 16"/>
          <p:cNvSpPr txBox="1"/>
          <p:nvPr/>
        </p:nvSpPr>
        <p:spPr>
          <a:xfrm>
            <a:off x="8366760" y="2907792"/>
            <a:ext cx="3154680" cy="347472"/>
          </a:xfrm>
          <a:prstGeom prst="rect">
            <a:avLst/>
          </a:prstGeom>
          <a:noFill/>
        </p:spPr>
        <p:txBody>
          <a:bodyPr wrap="none" lIns="45720" rIns="45720" anchor="ctr">
            <a:spAutoFit/>
          </a:bodyPr>
          <a:lstStyle/>
          <a:p>
            <a:pPr algn="l"/>
            <a:r>
              <a:rPr sz="1100" b="0">
                <a:solidFill>
                  <a:srgbClr val="27303B"/>
                </a:solidFill>
                <a:latin typeface="Noto Sans CJK KR"/>
              </a:rPr>
              <a:t>DDR ↔ FPGA 특징맵 전송</a:t>
            </a:r>
          </a:p>
        </p:txBody>
      </p:sp>
      <p:sp>
        <p:nvSpPr>
          <p:cNvPr id="18" name="Rounded Rectangle 17"/>
          <p:cNvSpPr/>
          <p:nvPr/>
        </p:nvSpPr>
        <p:spPr>
          <a:xfrm>
            <a:off x="8183879" y="3694176"/>
            <a:ext cx="3566160" cy="1097280"/>
          </a:xfrm>
          <a:prstGeom prst="roundRect">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840480"/>
            <a:ext cx="3200400" cy="292608"/>
          </a:xfrm>
          <a:prstGeom prst="rect">
            <a:avLst/>
          </a:prstGeom>
          <a:noFill/>
        </p:spPr>
        <p:txBody>
          <a:bodyPr wrap="none" lIns="45720" rIns="45720" anchor="ctr">
            <a:spAutoFit/>
          </a:bodyPr>
          <a:lstStyle/>
          <a:p>
            <a:pPr algn="l"/>
            <a:r>
              <a:rPr sz="1500" b="1">
                <a:solidFill>
                  <a:srgbClr val="329C69"/>
                </a:solidFill>
                <a:latin typeface="Noto Sans CJK KR"/>
              </a:rPr>
              <a:t>PL (FPGA Logic)</a:t>
            </a:r>
          </a:p>
        </p:txBody>
      </p:sp>
      <p:sp>
        <p:nvSpPr>
          <p:cNvPr id="20" name="TextBox 19"/>
          <p:cNvSpPr txBox="1"/>
          <p:nvPr/>
        </p:nvSpPr>
        <p:spPr>
          <a:xfrm>
            <a:off x="8366760" y="4206240"/>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model.6 cv1~Concat 실행</a:t>
            </a:r>
          </a:p>
        </p:txBody>
      </p:sp>
      <p:sp>
        <p:nvSpPr>
          <p:cNvPr id="21" name="Rounded Rectangle 20"/>
          <p:cNvSpPr/>
          <p:nvPr/>
        </p:nvSpPr>
        <p:spPr>
          <a:xfrm>
            <a:off x="8183879" y="5010912"/>
            <a:ext cx="3566160" cy="1161288"/>
          </a:xfrm>
          <a:prstGeom prst="round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7" y="5193792"/>
            <a:ext cx="96012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51937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AXI-Lite</a:t>
            </a:r>
          </a:p>
        </p:txBody>
      </p:sp>
      <p:sp>
        <p:nvSpPr>
          <p:cNvPr id="24" name="TextBox 23"/>
          <p:cNvSpPr txBox="1"/>
          <p:nvPr/>
        </p:nvSpPr>
        <p:spPr>
          <a:xfrm>
            <a:off x="9400032" y="5193792"/>
            <a:ext cx="2057400" cy="411480"/>
          </a:xfrm>
          <a:prstGeom prst="rect">
            <a:avLst/>
          </a:prstGeom>
          <a:noFill/>
        </p:spPr>
        <p:txBody>
          <a:bodyPr wrap="none" lIns="45720" rIns="45720" anchor="ctr">
            <a:spAutoFit/>
          </a:bodyPr>
          <a:lstStyle/>
          <a:p>
            <a:pPr algn="l"/>
            <a:r>
              <a:rPr sz="1000" b="0">
                <a:solidFill>
                  <a:srgbClr val="27303B"/>
                </a:solidFill>
                <a:latin typeface="Noto Sans CJK KR"/>
              </a:rPr>
              <a:t>제어·스케일</a:t>
            </a:r>
          </a:p>
        </p:txBody>
      </p:sp>
      <p:sp>
        <p:nvSpPr>
          <p:cNvPr id="25" name="Rounded Rectangle 24"/>
          <p:cNvSpPr/>
          <p:nvPr/>
        </p:nvSpPr>
        <p:spPr>
          <a:xfrm>
            <a:off x="8339327" y="5650992"/>
            <a:ext cx="9601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5048" y="56509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Stream</a:t>
            </a:r>
          </a:p>
        </p:txBody>
      </p:sp>
      <p:sp>
        <p:nvSpPr>
          <p:cNvPr id="27" name="TextBox 26"/>
          <p:cNvSpPr txBox="1"/>
          <p:nvPr/>
        </p:nvSpPr>
        <p:spPr>
          <a:xfrm>
            <a:off x="9400032" y="5650992"/>
            <a:ext cx="2057400" cy="411480"/>
          </a:xfrm>
          <a:prstGeom prst="rect">
            <a:avLst/>
          </a:prstGeom>
          <a:noFill/>
        </p:spPr>
        <p:txBody>
          <a:bodyPr wrap="none" lIns="45720" rIns="45720" anchor="ctr">
            <a:spAutoFit/>
          </a:bodyPr>
          <a:lstStyle/>
          <a:p>
            <a:pPr algn="l"/>
            <a:r>
              <a:rPr sz="1000" b="0">
                <a:solidFill>
                  <a:srgbClr val="27303B"/>
                </a:solidFill>
                <a:latin typeface="Noto Sans CJK KR"/>
              </a:rPr>
              <a:t>IP 간 연속 데이터</a:t>
            </a:r>
          </a:p>
        </p:txBody>
      </p:sp>
      <p:sp>
        <p:nvSpPr>
          <p:cNvPr id="28" name="TextBox 2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9" name="TextBox 2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실패에서 수렴까지 — 예상 밖의 병목과 판단</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Simulation PASS 이후 발생한 물리 배선·Stream·Memory·DMA 문제를 증거로 분해</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143000"/>
            <a:ext cx="2578608" cy="411480"/>
          </a:xfrm>
          <a:prstGeom prst="roundRect">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487168" cy="411480"/>
          </a:xfrm>
          <a:prstGeom prst="rect">
            <a:avLst/>
          </a:prstGeom>
          <a:noFill/>
        </p:spPr>
        <p:txBody>
          <a:bodyPr wrap="none" lIns="45720" rIns="45720" anchor="ctr">
            <a:spAutoFit/>
          </a:bodyPr>
          <a:lstStyle/>
          <a:p>
            <a:pPr algn="ctr"/>
            <a:r>
              <a:rPr sz="1100" b="1">
                <a:solidFill>
                  <a:srgbClr val="FFFFFF"/>
                </a:solidFill>
                <a:latin typeface="Noto Sans CJK KR"/>
              </a:rPr>
              <a:t>관찰된 실패</a:t>
            </a:r>
          </a:p>
        </p:txBody>
      </p:sp>
      <p:sp>
        <p:nvSpPr>
          <p:cNvPr id="10" name="Rounded Rectangle 9"/>
          <p:cNvSpPr/>
          <p:nvPr/>
        </p:nvSpPr>
        <p:spPr>
          <a:xfrm>
            <a:off x="3172968" y="1143000"/>
            <a:ext cx="34290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18688" y="1143000"/>
            <a:ext cx="3337560" cy="411480"/>
          </a:xfrm>
          <a:prstGeom prst="rect">
            <a:avLst/>
          </a:prstGeom>
          <a:noFill/>
        </p:spPr>
        <p:txBody>
          <a:bodyPr wrap="none" lIns="45720" rIns="45720" anchor="ctr">
            <a:spAutoFit/>
          </a:bodyPr>
          <a:lstStyle/>
          <a:p>
            <a:pPr algn="ctr"/>
            <a:r>
              <a:rPr sz="1100" b="1">
                <a:solidFill>
                  <a:srgbClr val="FFFFFF"/>
                </a:solidFill>
                <a:latin typeface="Noto Sans CJK KR"/>
              </a:rPr>
              <a:t>숫자로 확인한 원인</a:t>
            </a:r>
          </a:p>
        </p:txBody>
      </p:sp>
      <p:sp>
        <p:nvSpPr>
          <p:cNvPr id="12" name="Rounded Rectangle 11"/>
          <p:cNvSpPr/>
          <p:nvPr/>
        </p:nvSpPr>
        <p:spPr>
          <a:xfrm>
            <a:off x="6784848" y="1143000"/>
            <a:ext cx="4965192"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0568" y="1143000"/>
            <a:ext cx="4873752" cy="411480"/>
          </a:xfrm>
          <a:prstGeom prst="rect">
            <a:avLst/>
          </a:prstGeom>
          <a:noFill/>
        </p:spPr>
        <p:txBody>
          <a:bodyPr wrap="none" lIns="45720" rIns="45720" anchor="ctr">
            <a:spAutoFit/>
          </a:bodyPr>
          <a:lstStyle/>
          <a:p>
            <a:pPr algn="ctr"/>
            <a:r>
              <a:rPr sz="1100" b="1">
                <a:solidFill>
                  <a:srgbClr val="FFFFFF"/>
                </a:solidFill>
                <a:latin typeface="Noto Sans CJK KR"/>
              </a:rPr>
              <a:t>조정과 결과</a:t>
            </a:r>
          </a:p>
        </p:txBody>
      </p:sp>
      <p:sp>
        <p:nvSpPr>
          <p:cNvPr id="14" name="Rectangle 13"/>
          <p:cNvSpPr/>
          <p:nvPr/>
        </p:nvSpPr>
        <p:spPr>
          <a:xfrm>
            <a:off x="411480" y="1719072"/>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764792"/>
            <a:ext cx="2359152" cy="658368"/>
          </a:xfrm>
          <a:prstGeom prst="rect">
            <a:avLst/>
          </a:prstGeom>
          <a:noFill/>
        </p:spPr>
        <p:txBody>
          <a:bodyPr wrap="none" lIns="45720" rIns="45720" anchor="ctr">
            <a:spAutoFit/>
          </a:bodyPr>
          <a:lstStyle/>
          <a:p>
            <a:pPr algn="ctr"/>
            <a:r>
              <a:rPr sz="1000" b="0">
                <a:solidFill>
                  <a:srgbClr val="27303B"/>
                </a:solidFill>
                <a:latin typeface="Noto Sans CJK KR"/>
              </a:rPr>
              <a:t>Routing 불법</a:t>
            </a:r>
          </a:p>
        </p:txBody>
      </p:sp>
      <p:sp>
        <p:nvSpPr>
          <p:cNvPr id="16" name="Rectangle 15"/>
          <p:cNvSpPr/>
          <p:nvPr/>
        </p:nvSpPr>
        <p:spPr>
          <a:xfrm>
            <a:off x="3172968" y="1719072"/>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82696" y="1764792"/>
            <a:ext cx="3209544" cy="658368"/>
          </a:xfrm>
          <a:prstGeom prst="rect">
            <a:avLst/>
          </a:prstGeom>
          <a:noFill/>
        </p:spPr>
        <p:txBody>
          <a:bodyPr wrap="none" lIns="45720" rIns="45720" anchor="ctr">
            <a:spAutoFit/>
          </a:bodyPr>
          <a:lstStyle/>
          <a:p>
            <a:pPr algn="ctr"/>
            <a:r>
              <a:rPr sz="1000" b="0">
                <a:solidFill>
                  <a:srgbClr val="27303B"/>
                </a:solidFill>
                <a:latin typeface="Noto Sans CJK KR"/>
              </a:rPr>
              <a:t>66,590 overlaps
58,353 error nets</a:t>
            </a:r>
          </a:p>
        </p:txBody>
      </p:sp>
      <p:sp>
        <p:nvSpPr>
          <p:cNvPr id="18" name="Rectangle 17"/>
          <p:cNvSpPr/>
          <p:nvPr/>
        </p:nvSpPr>
        <p:spPr>
          <a:xfrm>
            <a:off x="6784848" y="1719072"/>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94576" y="1764792"/>
            <a:ext cx="4745736" cy="658368"/>
          </a:xfrm>
          <a:prstGeom prst="rect">
            <a:avLst/>
          </a:prstGeom>
          <a:noFill/>
        </p:spPr>
        <p:txBody>
          <a:bodyPr wrap="none" lIns="45720" rIns="45720" anchor="ctr">
            <a:spAutoFit/>
          </a:bodyPr>
          <a:lstStyle/>
          <a:p>
            <a:pPr algn="ctr"/>
            <a:r>
              <a:rPr sz="1000" b="0">
                <a:solidFill>
                  <a:srgbClr val="27303B"/>
                </a:solidFill>
                <a:latin typeface="Noto Sans CJK KR"/>
              </a:rPr>
              <a:t>Handshake register + 병렬도 분석
오류 96%↓, loop 0</a:t>
            </a:r>
          </a:p>
        </p:txBody>
      </p:sp>
      <p:sp>
        <p:nvSpPr>
          <p:cNvPr id="20" name="Rectangle 19"/>
          <p:cNvSpPr/>
          <p:nvPr/>
        </p:nvSpPr>
        <p:spPr>
          <a:xfrm>
            <a:off x="411480" y="2551176"/>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2596896"/>
            <a:ext cx="2359152" cy="658368"/>
          </a:xfrm>
          <a:prstGeom prst="rect">
            <a:avLst/>
          </a:prstGeom>
          <a:noFill/>
        </p:spPr>
        <p:txBody>
          <a:bodyPr wrap="none" lIns="45720" rIns="45720" anchor="ctr">
            <a:spAutoFit/>
          </a:bodyPr>
          <a:lstStyle/>
          <a:p>
            <a:pPr algn="ctr"/>
            <a:r>
              <a:rPr sz="1000" b="0">
                <a:solidFill>
                  <a:srgbClr val="27303B"/>
                </a:solidFill>
                <a:latin typeface="Noto Sans CJK KR"/>
              </a:rPr>
              <a:t>자원·배선 포화</a:t>
            </a:r>
          </a:p>
        </p:txBody>
      </p:sp>
      <p:sp>
        <p:nvSpPr>
          <p:cNvPr id="22" name="Rectangle 21"/>
          <p:cNvSpPr/>
          <p:nvPr/>
        </p:nvSpPr>
        <p:spPr>
          <a:xfrm>
            <a:off x="3172968" y="2551176"/>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82696" y="2596896"/>
            <a:ext cx="3209544" cy="658368"/>
          </a:xfrm>
          <a:prstGeom prst="rect">
            <a:avLst/>
          </a:prstGeom>
          <a:noFill/>
        </p:spPr>
        <p:txBody>
          <a:bodyPr wrap="none" lIns="45720" rIns="45720" anchor="ctr">
            <a:spAutoFit/>
          </a:bodyPr>
          <a:lstStyle/>
          <a:p>
            <a:pPr algn="ctr"/>
            <a:r>
              <a:rPr sz="1000" b="0">
                <a:solidFill>
                  <a:srgbClr val="27303B"/>
                </a:solidFill>
                <a:latin typeface="Noto Sans CJK KR"/>
              </a:rPr>
              <a:t>cv2 포함 LUT 약 91%
Congestion Level 6</a:t>
            </a:r>
          </a:p>
        </p:txBody>
      </p:sp>
      <p:sp>
        <p:nvSpPr>
          <p:cNvPr id="24" name="Rectangle 23"/>
          <p:cNvSpPr/>
          <p:nvPr/>
        </p:nvSpPr>
        <p:spPr>
          <a:xfrm>
            <a:off x="6784848" y="2551176"/>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94576" y="2596896"/>
            <a:ext cx="4745736" cy="658368"/>
          </a:xfrm>
          <a:prstGeom prst="rect">
            <a:avLst/>
          </a:prstGeom>
          <a:noFill/>
        </p:spPr>
        <p:txBody>
          <a:bodyPr wrap="none" lIns="45720" rIns="45720" anchor="ctr">
            <a:spAutoFit/>
          </a:bodyPr>
          <a:lstStyle/>
          <a:p>
            <a:pPr algn="ctr"/>
            <a:r>
              <a:rPr sz="1000" b="0">
                <a:solidFill>
                  <a:srgbClr val="27303B"/>
                </a:solidFill>
                <a:latin typeface="Noto Sans CJK KR"/>
              </a:rPr>
              <a:t>cv2를 CPU로 이전
통합 LUT 약 56% 수준</a:t>
            </a:r>
          </a:p>
        </p:txBody>
      </p:sp>
      <p:sp>
        <p:nvSpPr>
          <p:cNvPr id="26" name="Rectangle 25"/>
          <p:cNvSpPr/>
          <p:nvPr/>
        </p:nvSpPr>
        <p:spPr>
          <a:xfrm>
            <a:off x="411480" y="3383280"/>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29000"/>
            <a:ext cx="2359152" cy="658368"/>
          </a:xfrm>
          <a:prstGeom prst="rect">
            <a:avLst/>
          </a:prstGeom>
          <a:noFill/>
        </p:spPr>
        <p:txBody>
          <a:bodyPr wrap="none" lIns="45720" rIns="45720" anchor="ctr">
            <a:spAutoFit/>
          </a:bodyPr>
          <a:lstStyle/>
          <a:p>
            <a:pPr algn="ctr"/>
            <a:r>
              <a:rPr sz="1000" b="0">
                <a:solidFill>
                  <a:srgbClr val="27303B"/>
                </a:solidFill>
                <a:latin typeface="Noto Sans CJK KR"/>
              </a:rPr>
              <a:t>Stream 교착</a:t>
            </a:r>
          </a:p>
        </p:txBody>
      </p:sp>
      <p:sp>
        <p:nvSpPr>
          <p:cNvPr id="28" name="Rectangle 27"/>
          <p:cNvSpPr/>
          <p:nvPr/>
        </p:nvSpPr>
        <p:spPr>
          <a:xfrm>
            <a:off x="3172968" y="3383280"/>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82696" y="3429000"/>
            <a:ext cx="3209544" cy="658368"/>
          </a:xfrm>
          <a:prstGeom prst="rect">
            <a:avLst/>
          </a:prstGeom>
          <a:noFill/>
        </p:spPr>
        <p:txBody>
          <a:bodyPr wrap="none" lIns="45720" rIns="45720" anchor="ctr">
            <a:spAutoFit/>
          </a:bodyPr>
          <a:lstStyle/>
          <a:p>
            <a:pPr algn="ctr"/>
            <a:r>
              <a:rPr sz="1000" b="0">
                <a:solidFill>
                  <a:srgbClr val="27303B"/>
                </a:solidFill>
                <a:latin typeface="Noto Sans CJK KR"/>
              </a:rPr>
              <a:t>CSim PASS, HW는
약 82 pixel에서 정지</a:t>
            </a:r>
          </a:p>
        </p:txBody>
      </p:sp>
      <p:sp>
        <p:nvSpPr>
          <p:cNvPr id="30" name="Rectangle 29"/>
          <p:cNvSpPr/>
          <p:nvPr/>
        </p:nvSpPr>
        <p:spPr>
          <a:xfrm>
            <a:off x="6784848" y="3383280"/>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94576" y="3429000"/>
            <a:ext cx="4745736" cy="658368"/>
          </a:xfrm>
          <a:prstGeom prst="rect">
            <a:avLst/>
          </a:prstGeom>
          <a:noFill/>
        </p:spPr>
        <p:txBody>
          <a:bodyPr wrap="none" lIns="45720" rIns="45720" anchor="ctr">
            <a:spAutoFit/>
          </a:bodyPr>
          <a:lstStyle/>
          <a:p>
            <a:pPr algn="ctr"/>
            <a:r>
              <a:rPr sz="1000" b="0">
                <a:solidFill>
                  <a:srgbClr val="27303B"/>
                </a:solidFill>
                <a:latin typeface="Noto Sans CJK KR"/>
              </a:rPr>
              <a:t>Router DATAFLOW + FIFO
1,600 pixel 처리</a:t>
            </a:r>
          </a:p>
        </p:txBody>
      </p:sp>
      <p:sp>
        <p:nvSpPr>
          <p:cNvPr id="32" name="Rectangle 31"/>
          <p:cNvSpPr/>
          <p:nvPr/>
        </p:nvSpPr>
        <p:spPr>
          <a:xfrm>
            <a:off x="411480" y="4215384"/>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261104"/>
            <a:ext cx="2359152" cy="658368"/>
          </a:xfrm>
          <a:prstGeom prst="rect">
            <a:avLst/>
          </a:prstGeom>
          <a:noFill/>
        </p:spPr>
        <p:txBody>
          <a:bodyPr wrap="none" lIns="45720" rIns="45720" anchor="ctr">
            <a:spAutoFit/>
          </a:bodyPr>
          <a:lstStyle/>
          <a:p>
            <a:pPr algn="ctr"/>
            <a:r>
              <a:rPr sz="1000" b="0">
                <a:solidFill>
                  <a:srgbClr val="27303B"/>
                </a:solidFill>
                <a:latin typeface="Noto Sans CJK KR"/>
              </a:rPr>
              <a:t>출력값 불일치</a:t>
            </a:r>
          </a:p>
        </p:txBody>
      </p:sp>
      <p:sp>
        <p:nvSpPr>
          <p:cNvPr id="34" name="Rectangle 33"/>
          <p:cNvSpPr/>
          <p:nvPr/>
        </p:nvSpPr>
        <p:spPr>
          <a:xfrm>
            <a:off x="3172968" y="4215384"/>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82696" y="4261104"/>
            <a:ext cx="3209544" cy="658368"/>
          </a:xfrm>
          <a:prstGeom prst="rect">
            <a:avLst/>
          </a:prstGeom>
          <a:noFill/>
        </p:spPr>
        <p:txBody>
          <a:bodyPr wrap="none" lIns="45720" rIns="45720" anchor="ctr">
            <a:spAutoFit/>
          </a:bodyPr>
          <a:lstStyle/>
          <a:p>
            <a:pPr algn="ctr"/>
            <a:r>
              <a:rPr sz="1000" b="0">
                <a:solidFill>
                  <a:srgbClr val="27303B"/>
                </a:solidFill>
                <a:latin typeface="Noto Sans CJK KR"/>
              </a:rPr>
              <a:t>BRAM byte/word 주소
CHW/HWC 경계 충돌</a:t>
            </a:r>
          </a:p>
        </p:txBody>
      </p:sp>
      <p:sp>
        <p:nvSpPr>
          <p:cNvPr id="36" name="Rectangle 35"/>
          <p:cNvSpPr/>
          <p:nvPr/>
        </p:nvSpPr>
        <p:spPr>
          <a:xfrm>
            <a:off x="6784848" y="4215384"/>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94576" y="4261104"/>
            <a:ext cx="4745736" cy="658368"/>
          </a:xfrm>
          <a:prstGeom prst="rect">
            <a:avLst/>
          </a:prstGeom>
          <a:noFill/>
        </p:spPr>
        <p:txBody>
          <a:bodyPr wrap="none" lIns="45720" rIns="45720" anchor="ctr">
            <a:spAutoFit/>
          </a:bodyPr>
          <a:lstStyle/>
          <a:p>
            <a:pPr algn="ctr"/>
            <a:r>
              <a:rPr sz="1000" b="0">
                <a:solidFill>
                  <a:srgbClr val="27303B"/>
                </a:solidFill>
                <a:latin typeface="Noto Sans CJK KR"/>
              </a:rPr>
              <a:t>stride-4 COE + HWC 계약
팀 y0/y1 mismatch 0</a:t>
            </a:r>
          </a:p>
        </p:txBody>
      </p:sp>
      <p:sp>
        <p:nvSpPr>
          <p:cNvPr id="38" name="Rectangle 37"/>
          <p:cNvSpPr/>
          <p:nvPr/>
        </p:nvSpPr>
        <p:spPr>
          <a:xfrm>
            <a:off x="411480" y="5047488"/>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5093208"/>
            <a:ext cx="2359152" cy="658368"/>
          </a:xfrm>
          <a:prstGeom prst="rect">
            <a:avLst/>
          </a:prstGeom>
          <a:noFill/>
        </p:spPr>
        <p:txBody>
          <a:bodyPr wrap="none" lIns="45720" rIns="45720" anchor="ctr">
            <a:spAutoFit/>
          </a:bodyPr>
          <a:lstStyle/>
          <a:p>
            <a:pPr algn="ctr"/>
            <a:r>
              <a:rPr sz="1000" b="0">
                <a:solidFill>
                  <a:srgbClr val="27303B"/>
                </a:solidFill>
                <a:latin typeface="Noto Sans CJK KR"/>
              </a:rPr>
              <a:t>DMA·보드 대기</a:t>
            </a:r>
          </a:p>
        </p:txBody>
      </p:sp>
      <p:sp>
        <p:nvSpPr>
          <p:cNvPr id="40" name="Rectangle 39"/>
          <p:cNvSpPr/>
          <p:nvPr/>
        </p:nvSpPr>
        <p:spPr>
          <a:xfrm>
            <a:off x="3172968" y="5047488"/>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82696" y="5093208"/>
            <a:ext cx="3209544" cy="658368"/>
          </a:xfrm>
          <a:prstGeom prst="rect">
            <a:avLst/>
          </a:prstGeom>
          <a:noFill/>
        </p:spPr>
        <p:txBody>
          <a:bodyPr wrap="none" lIns="45720" rIns="45720" anchor="ctr">
            <a:spAutoFit/>
          </a:bodyPr>
          <a:lstStyle/>
          <a:p>
            <a:pPr algn="ctr"/>
            <a:r>
              <a:rPr sz="1000" b="0">
                <a:solidFill>
                  <a:srgbClr val="27303B"/>
                </a:solidFill>
                <a:latin typeface="Noto Sans CJK KR"/>
              </a:rPr>
              <a:t>14-bit length &lt; 409,600B
MMIO kernel hang</a:t>
            </a:r>
          </a:p>
        </p:txBody>
      </p:sp>
      <p:sp>
        <p:nvSpPr>
          <p:cNvPr id="42" name="Rectangle 41"/>
          <p:cNvSpPr/>
          <p:nvPr/>
        </p:nvSpPr>
        <p:spPr>
          <a:xfrm>
            <a:off x="6784848" y="5047488"/>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94576" y="5093208"/>
            <a:ext cx="4745736" cy="658368"/>
          </a:xfrm>
          <a:prstGeom prst="rect">
            <a:avLst/>
          </a:prstGeom>
          <a:noFill/>
        </p:spPr>
        <p:txBody>
          <a:bodyPr wrap="none" lIns="45720" rIns="45720" anchor="ctr">
            <a:spAutoFit/>
          </a:bodyPr>
          <a:lstStyle/>
          <a:p>
            <a:pPr algn="ctr"/>
            <a:r>
              <a:rPr sz="1000" b="0">
                <a:solidFill>
                  <a:srgbClr val="27303B"/>
                </a:solidFill>
                <a:latin typeface="Noto Sans CJK KR"/>
              </a:rPr>
              <a:t>DMA 14→26bit / IOC 판정
개인 검증은 Overlay까지</a:t>
            </a:r>
          </a:p>
        </p:txBody>
      </p:sp>
      <p:sp>
        <p:nvSpPr>
          <p:cNvPr id="44" name="Rounded Rectangle 43"/>
          <p:cNvSpPr/>
          <p:nvPr/>
        </p:nvSpPr>
        <p:spPr>
          <a:xfrm>
            <a:off x="411480" y="5989320"/>
            <a:ext cx="11338560" cy="384048"/>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5989320"/>
            <a:ext cx="10972800" cy="384048"/>
          </a:xfrm>
          <a:prstGeom prst="rect">
            <a:avLst/>
          </a:prstGeom>
          <a:noFill/>
        </p:spPr>
        <p:txBody>
          <a:bodyPr wrap="none" lIns="45720" rIns="45720" anchor="ctr">
            <a:spAutoFit/>
          </a:bodyPr>
          <a:lstStyle/>
          <a:p>
            <a:pPr algn="ctr"/>
            <a:r>
              <a:rPr sz="1000" b="1">
                <a:solidFill>
                  <a:srgbClr val="FFFFFF"/>
                </a:solidFill>
                <a:latin typeface="Noto Sans CJK KR"/>
              </a:rPr>
              <a:t>핵심 교훈  |  CSim PASS ≠ HW 동작  ·  자원 여유 ≠ Routability  ·  Bitstream 성공 ≠ End-to-End 완료</a:t>
            </a:r>
          </a:p>
        </p:txBody>
      </p:sp>
      <p:sp>
        <p:nvSpPr>
          <p:cNvPr id="46" name="TextBox 4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7" name="TextBox 4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vado_terminal.png"/>
          <p:cNvPicPr>
            <a:picLocks noChangeAspect="1"/>
          </p:cNvPicPr>
          <p:nvPr/>
        </p:nvPicPr>
        <p:blipFill>
          <a:blip r:embed="rId2"/>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3"/>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KV260 보드 검증 — 직접 확인 범위와 팀 최종 목표</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개인 검증과 팀 공동 파이프라인 결과를 구분하여 기록</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v260_terminal.png"/>
          <p:cNvPicPr>
            <a:picLocks noChangeAspect="1"/>
          </p:cNvPicPr>
          <p:nvPr/>
        </p:nvPicPr>
        <p:blipFill>
          <a:blip r:embed="rId2"/>
          <a:stretch>
            <a:fillRect/>
          </a:stretch>
        </p:blipFill>
        <p:spPr>
          <a:xfrm>
            <a:off x="411480" y="1078992"/>
            <a:ext cx="5532120" cy="4297680"/>
          </a:xfrm>
          <a:prstGeom prst="rect">
            <a:avLst/>
          </a:prstGeom>
        </p:spPr>
      </p:pic>
      <p:sp>
        <p:nvSpPr>
          <p:cNvPr id="9" name="Rounded Rectangle 8"/>
          <p:cNvSpPr/>
          <p:nvPr/>
        </p:nvSpPr>
        <p:spPr>
          <a:xfrm>
            <a:off x="6199632" y="1078992"/>
            <a:ext cx="5532120" cy="429768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280160"/>
            <a:ext cx="516635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1" name="TextBox 10"/>
          <p:cNvSpPr txBox="1"/>
          <p:nvPr/>
        </p:nvSpPr>
        <p:spPr>
          <a:xfrm>
            <a:off x="6428232" y="2755087"/>
            <a:ext cx="5074920" cy="411480"/>
          </a:xfrm>
          <a:prstGeom prst="rect">
            <a:avLst/>
          </a:prstGeom>
          <a:noFill/>
        </p:spPr>
        <p:txBody>
          <a:bodyPr wrap="none" lIns="45720" rIns="45720" anchor="ctr">
            <a:spAutoFit/>
          </a:bodyPr>
          <a:lstStyle/>
          <a:p>
            <a:pPr algn="ctr"/>
            <a:r>
              <a:rPr sz="1800" b="1">
                <a:solidFill>
                  <a:srgbClr val="0E1F35"/>
                </a:solidFill>
                <a:latin typeface="Noto Sans CJK KR"/>
              </a:rPr>
              <a:t>팀의 실시간 PPE 실행 화면</a:t>
            </a:r>
          </a:p>
        </p:txBody>
      </p:sp>
      <p:sp>
        <p:nvSpPr>
          <p:cNvPr id="12" name="TextBox 11"/>
          <p:cNvSpPr txBox="1"/>
          <p:nvPr/>
        </p:nvSpPr>
        <p:spPr>
          <a:xfrm>
            <a:off x="6519672" y="3700576"/>
            <a:ext cx="4892040" cy="1074420"/>
          </a:xfrm>
          <a:prstGeom prst="rect">
            <a:avLst/>
          </a:prstGeom>
          <a:noFill/>
        </p:spPr>
        <p:txBody>
          <a:bodyPr wrap="none" lIns="45720" rIns="45720" anchor="ctr">
            <a:spAutoFit/>
          </a:bodyPr>
          <a:lstStyle/>
          <a:p>
            <a:pPr algn="ctr"/>
            <a:r>
              <a:rPr sz="1000" b="0">
                <a:solidFill>
                  <a:srgbClr val="66717C"/>
                </a:solidFill>
                <a:latin typeface="Noto Sans CJK KR"/>
              </a:rPr>
              <a:t>조원이 검증한 화면이면 ‘팀 공동 결과’로 표기
본인 직접 재현 후에는 ‘개인 검증 완료’로 변경</a:t>
            </a:r>
          </a:p>
        </p:txBody>
      </p:sp>
      <p:sp>
        <p:nvSpPr>
          <p:cNvPr id="13" name="Rounded Rectangle 12"/>
          <p:cNvSpPr/>
          <p:nvPr/>
        </p:nvSpPr>
        <p:spPr>
          <a:xfrm>
            <a:off x="438912" y="5596128"/>
            <a:ext cx="2724912" cy="658368"/>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50992"/>
            <a:ext cx="822960" cy="228600"/>
          </a:xfrm>
          <a:prstGeom prst="rect">
            <a:avLst/>
          </a:prstGeom>
          <a:noFill/>
        </p:spPr>
        <p:txBody>
          <a:bodyPr wrap="none" lIns="45720" rIns="45720" anchor="ctr">
            <a:spAutoFit/>
          </a:bodyPr>
          <a:lstStyle/>
          <a:p>
            <a:pPr algn="l"/>
            <a:r>
              <a:rPr sz="900" b="1">
                <a:solidFill>
                  <a:srgbClr val="236CB4"/>
                </a:solidFill>
                <a:latin typeface="Noto Sans CJK KR"/>
              </a:rPr>
              <a:t>Webcam</a:t>
            </a:r>
          </a:p>
        </p:txBody>
      </p:sp>
      <p:sp>
        <p:nvSpPr>
          <p:cNvPr id="15" name="TextBox 14"/>
          <p:cNvSpPr txBox="1"/>
          <p:nvPr/>
        </p:nvSpPr>
        <p:spPr>
          <a:xfrm>
            <a:off x="130759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Logitech C270</a:t>
            </a:r>
          </a:p>
        </p:txBody>
      </p:sp>
      <p:sp>
        <p:nvSpPr>
          <p:cNvPr id="16" name="Rounded Rectangle 15"/>
          <p:cNvSpPr/>
          <p:nvPr/>
        </p:nvSpPr>
        <p:spPr>
          <a:xfrm>
            <a:off x="3273552" y="5596128"/>
            <a:ext cx="2724912" cy="658368"/>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5650992"/>
            <a:ext cx="822960" cy="228600"/>
          </a:xfrm>
          <a:prstGeom prst="rect">
            <a:avLst/>
          </a:prstGeom>
          <a:noFill/>
        </p:spPr>
        <p:txBody>
          <a:bodyPr wrap="none" lIns="45720" rIns="45720" anchor="ctr">
            <a:spAutoFit/>
          </a:bodyPr>
          <a:lstStyle/>
          <a:p>
            <a:pPr algn="l"/>
            <a:r>
              <a:rPr sz="900" b="1">
                <a:solidFill>
                  <a:srgbClr val="21AABE"/>
                </a:solidFill>
                <a:latin typeface="Noto Sans CJK KR"/>
              </a:rPr>
              <a:t>Video Node</a:t>
            </a:r>
          </a:p>
        </p:txBody>
      </p:sp>
      <p:sp>
        <p:nvSpPr>
          <p:cNvPr id="18" name="TextBox 17"/>
          <p:cNvSpPr txBox="1"/>
          <p:nvPr/>
        </p:nvSpPr>
        <p:spPr>
          <a:xfrm>
            <a:off x="414223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/dev/video0·1</a:t>
            </a:r>
          </a:p>
        </p:txBody>
      </p:sp>
      <p:sp>
        <p:nvSpPr>
          <p:cNvPr id="19" name="Rounded Rectangle 18"/>
          <p:cNvSpPr/>
          <p:nvPr/>
        </p:nvSpPr>
        <p:spPr>
          <a:xfrm>
            <a:off x="6108192" y="5596128"/>
            <a:ext cx="2724912" cy="658368"/>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5650992"/>
            <a:ext cx="822960" cy="228600"/>
          </a:xfrm>
          <a:prstGeom prst="rect">
            <a:avLst/>
          </a:prstGeom>
          <a:noFill/>
        </p:spPr>
        <p:txBody>
          <a:bodyPr wrap="none" lIns="45720" rIns="45720" anchor="ctr">
            <a:spAutoFit/>
          </a:bodyPr>
          <a:lstStyle/>
          <a:p>
            <a:pPr algn="l"/>
            <a:r>
              <a:rPr sz="900" b="1">
                <a:solidFill>
                  <a:srgbClr val="329C69"/>
                </a:solidFill>
                <a:latin typeface="Noto Sans CJK KR"/>
              </a:rPr>
              <a:t>Overlay</a:t>
            </a:r>
          </a:p>
        </p:txBody>
      </p:sp>
      <p:sp>
        <p:nvSpPr>
          <p:cNvPr id="21" name="TextBox 20"/>
          <p:cNvSpPr txBox="1"/>
          <p:nvPr/>
        </p:nvSpPr>
        <p:spPr>
          <a:xfrm>
            <a:off x="697687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LOADED: True</a:t>
            </a:r>
          </a:p>
        </p:txBody>
      </p:sp>
      <p:sp>
        <p:nvSpPr>
          <p:cNvPr id="22" name="Rounded Rectangle 21"/>
          <p:cNvSpPr/>
          <p:nvPr/>
        </p:nvSpPr>
        <p:spPr>
          <a:xfrm>
            <a:off x="8942832" y="5596128"/>
            <a:ext cx="2724912" cy="658368"/>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59" y="5650992"/>
            <a:ext cx="822960" cy="228600"/>
          </a:xfrm>
          <a:prstGeom prst="rect">
            <a:avLst/>
          </a:prstGeom>
          <a:noFill/>
        </p:spPr>
        <p:txBody>
          <a:bodyPr wrap="none" lIns="45720" rIns="45720" anchor="ctr">
            <a:spAutoFit/>
          </a:bodyPr>
          <a:lstStyle/>
          <a:p>
            <a:pPr algn="l"/>
            <a:r>
              <a:rPr sz="900" b="1">
                <a:solidFill>
                  <a:srgbClr val="EB8B36"/>
                </a:solidFill>
                <a:latin typeface="Noto Sans CJK KR"/>
              </a:rPr>
              <a:t>PYNQ IP</a:t>
            </a:r>
          </a:p>
        </p:txBody>
      </p:sp>
      <p:sp>
        <p:nvSpPr>
          <p:cNvPr id="24" name="TextBox 23"/>
          <p:cNvSpPr txBox="1"/>
          <p:nvPr/>
        </p:nvSpPr>
        <p:spPr>
          <a:xfrm>
            <a:off x="9811511"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model6_dma</a:t>
            </a:r>
          </a:p>
        </p:txBody>
      </p:sp>
      <p:sp>
        <p:nvSpPr>
          <p:cNvPr id="25" name="TextBox 24"/>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6" name="TextBox 25"/>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문제 해결 방식과 남은 과제</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AI로 가설을 넓히되 실제 로그·수치·보드 결과로 좁혀 간 반복형 개발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 y="1234440"/>
            <a:ext cx="3529584" cy="388620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3503" y="1417320"/>
            <a:ext cx="320040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문제 해결 원칙</a:t>
            </a:r>
          </a:p>
        </p:txBody>
      </p:sp>
      <p:sp>
        <p:nvSpPr>
          <p:cNvPr id="11" name="TextBox 10"/>
          <p:cNvSpPr txBox="1"/>
          <p:nvPr/>
        </p:nvSpPr>
        <p:spPr>
          <a:xfrm>
            <a:off x="7315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성공 기준을 단계별로 정의</a:t>
            </a:r>
          </a:p>
        </p:txBody>
      </p:sp>
      <p:sp>
        <p:nvSpPr>
          <p:cNvPr id="12" name="TextBox 11"/>
          <p:cNvSpPr txBox="1"/>
          <p:nvPr/>
        </p:nvSpPr>
        <p:spPr>
          <a:xfrm>
            <a:off x="7315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한 번에 한 변수만 변경</a:t>
            </a:r>
          </a:p>
        </p:txBody>
      </p:sp>
      <p:sp>
        <p:nvSpPr>
          <p:cNvPr id="13" name="TextBox 12"/>
          <p:cNvSpPr txBox="1"/>
          <p:nvPr/>
        </p:nvSpPr>
        <p:spPr>
          <a:xfrm>
            <a:off x="7315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전후 수치를 동일 조건 비교</a:t>
            </a:r>
          </a:p>
        </p:txBody>
      </p:sp>
      <p:sp>
        <p:nvSpPr>
          <p:cNvPr id="14" name="TextBox 13"/>
          <p:cNvSpPr txBox="1"/>
          <p:nvPr/>
        </p:nvSpPr>
        <p:spPr>
          <a:xfrm>
            <a:off x="7315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미확인 결과는 성공에서 제외</a:t>
            </a:r>
          </a:p>
        </p:txBody>
      </p:sp>
      <p:sp>
        <p:nvSpPr>
          <p:cNvPr id="15" name="Rounded Rectangle 14"/>
          <p:cNvSpPr/>
          <p:nvPr/>
        </p:nvSpPr>
        <p:spPr>
          <a:xfrm>
            <a:off x="4325112" y="1234440"/>
            <a:ext cx="3529584" cy="388620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9704" y="1417320"/>
            <a:ext cx="32004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Codex 활용 방식</a:t>
            </a:r>
          </a:p>
        </p:txBody>
      </p:sp>
      <p:sp>
        <p:nvSpPr>
          <p:cNvPr id="18" name="TextBox 17"/>
          <p:cNvSpPr txBox="1"/>
          <p:nvPr/>
        </p:nvSpPr>
        <p:spPr>
          <a:xfrm>
            <a:off x="46177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설계 이미지·코드 함께 분석</a:t>
            </a:r>
          </a:p>
        </p:txBody>
      </p:sp>
      <p:sp>
        <p:nvSpPr>
          <p:cNvPr id="19" name="TextBox 18"/>
          <p:cNvSpPr txBox="1"/>
          <p:nvPr/>
        </p:nvSpPr>
        <p:spPr>
          <a:xfrm>
            <a:off x="46177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Vivado/Vitis 로그 원인 분류</a:t>
            </a:r>
          </a:p>
        </p:txBody>
      </p:sp>
      <p:sp>
        <p:nvSpPr>
          <p:cNvPr id="20" name="TextBox 19"/>
          <p:cNvSpPr txBox="1"/>
          <p:nvPr/>
        </p:nvSpPr>
        <p:spPr>
          <a:xfrm>
            <a:off x="46177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다음 검증 명령과 가설 관리</a:t>
            </a:r>
          </a:p>
        </p:txBody>
      </p:sp>
      <p:sp>
        <p:nvSpPr>
          <p:cNvPr id="21" name="TextBox 20"/>
          <p:cNvSpPr txBox="1"/>
          <p:nvPr/>
        </p:nvSpPr>
        <p:spPr>
          <a:xfrm>
            <a:off x="46177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GitHub·문서·PPT 근거 통일</a:t>
            </a:r>
          </a:p>
        </p:txBody>
      </p:sp>
      <p:sp>
        <p:nvSpPr>
          <p:cNvPr id="22" name="Rounded Rectangle 21"/>
          <p:cNvSpPr/>
          <p:nvPr/>
        </p:nvSpPr>
        <p:spPr>
          <a:xfrm>
            <a:off x="8211312" y="1234440"/>
            <a:ext cx="3529584" cy="388620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4" y="1417320"/>
            <a:ext cx="320040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결과와 다음 검증</a:t>
            </a:r>
          </a:p>
        </p:txBody>
      </p:sp>
      <p:sp>
        <p:nvSpPr>
          <p:cNvPr id="25" name="TextBox 24"/>
          <p:cNvSpPr txBox="1"/>
          <p:nvPr/>
        </p:nvSpPr>
        <p:spPr>
          <a:xfrm>
            <a:off x="85039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WNS +0.220 / DRC 0</a:t>
            </a:r>
          </a:p>
        </p:txBody>
      </p:sp>
      <p:sp>
        <p:nvSpPr>
          <p:cNvPr id="26" name="TextBox 25"/>
          <p:cNvSpPr txBox="1"/>
          <p:nvPr/>
        </p:nvSpPr>
        <p:spPr>
          <a:xfrm>
            <a:off x="85039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Bitstream·XSA·Overlay 완료</a:t>
            </a:r>
          </a:p>
        </p:txBody>
      </p:sp>
      <p:sp>
        <p:nvSpPr>
          <p:cNvPr id="27" name="TextBox 26"/>
          <p:cNvSpPr txBox="1"/>
          <p:nvPr/>
        </p:nvSpPr>
        <p:spPr>
          <a:xfrm>
            <a:off x="85039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Loopback/Golden 비교</a:t>
            </a:r>
          </a:p>
        </p:txBody>
      </p:sp>
      <p:sp>
        <p:nvSpPr>
          <p:cNvPr id="28" name="TextBox 27"/>
          <p:cNvSpPr txBox="1"/>
          <p:nvPr/>
        </p:nvSpPr>
        <p:spPr>
          <a:xfrm>
            <a:off x="85039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개인 실시간 FPS 재현</a:t>
            </a:r>
          </a:p>
        </p:txBody>
      </p:sp>
      <p:sp>
        <p:nvSpPr>
          <p:cNvPr id="29" name="Rounded Rectangle 28"/>
          <p:cNvSpPr/>
          <p:nvPr/>
        </p:nvSpPr>
        <p:spPr>
          <a:xfrm>
            <a:off x="438912" y="5285232"/>
            <a:ext cx="11301984" cy="438912"/>
          </a:xfrm>
          <a:prstGeom prst="roundRect">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03520"/>
            <a:ext cx="10881360" cy="384048"/>
          </a:xfrm>
          <a:prstGeom prst="rect">
            <a:avLst/>
          </a:prstGeom>
          <a:noFill/>
        </p:spPr>
        <p:txBody>
          <a:bodyPr wrap="none" lIns="45720" rIns="45720" anchor="ctr">
            <a:spAutoFit/>
          </a:bodyPr>
          <a:lstStyle/>
          <a:p>
            <a:pPr algn="ctr"/>
            <a:r>
              <a:rPr sz="1100" b="1">
                <a:solidFill>
                  <a:srgbClr val="FFFFFF"/>
                </a:solidFill>
                <a:latin typeface="Noto Sans CJK KR"/>
              </a:rPr>
              <a:t>실패의 가치  |  계산 오류보다 인터페이스·메모리·배선·검증 기준이 시스템 성공을 좌우</a:t>
            </a:r>
          </a:p>
        </p:txBody>
      </p:sp>
      <p:sp>
        <p:nvSpPr>
          <p:cNvPr id="31" name="Rounded Rectangle 30"/>
          <p:cNvSpPr/>
          <p:nvPr/>
        </p:nvSpPr>
        <p:spPr>
          <a:xfrm>
            <a:off x="438912" y="5806440"/>
            <a:ext cx="11301984" cy="53035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833872"/>
            <a:ext cx="10698480" cy="438912"/>
          </a:xfrm>
          <a:prstGeom prst="rect">
            <a:avLst/>
          </a:prstGeom>
          <a:noFill/>
        </p:spPr>
        <p:txBody>
          <a:bodyPr wrap="none" lIns="45720" rIns="45720" anchor="ctr">
            <a:spAutoFit/>
          </a:bodyPr>
          <a:lstStyle/>
          <a:p>
            <a:pPr algn="ctr"/>
            <a:r>
              <a:rPr sz="1200" b="1">
                <a:solidFill>
                  <a:srgbClr val="FFFFFF"/>
                </a:solidFill>
                <a:latin typeface="Noto Sans CJK KR"/>
              </a:rPr>
              <a:t>결론  |  실패를 숨기지 않고 수치로 좁혀 Bitstream까지 수렴 — 다음은 개인 End-to-End 검증</a:t>
            </a:r>
          </a:p>
        </p:txBody>
      </p:sp>
      <p:sp>
        <p:nvSpPr>
          <p:cNvPr id="33" name="TextBox 32"/>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Project Retrospective</a:t>
            </a:r>
          </a:p>
        </p:txBody>
      </p:sp>
      <p:sp>
        <p:nvSpPr>
          <p:cNvPr id="34" name="TextBox 33"/>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18</Slides>
  <Notes>13</Notes>
  <HiddenSlides>0</HiddenSlides>
  <ScaleCrop>false</ScaleCrop>
  <HeadingPairs>
    <vt:vector size="4" baseType="variant">
      <vt:variant>
        <vt:lpstr>테마</vt:lpstr>
      </vt:variant>
      <vt:variant>
        <vt:i4>1</vt:i4>
      </vt:variant>
      <vt:variant>
        <vt:lpstr>슬라이드 제목</vt:lpstr>
      </vt:variant>
      <vt:variant>
        <vt:i4>18</vt:i4>
      </vt:variant>
    </vt:vector>
  </HeadingPairs>
  <TitlesOfParts>
    <vt:vector size="19"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59</cp:revision>
  <dcterms:created xsi:type="dcterms:W3CDTF">2026-08-10T01:47:46Z</dcterms:created>
  <dcterms:modified xsi:type="dcterms:W3CDTF">2026-08-11T09:25:49Z</dcterms:modified>
</cp:coreProperties>
</file>